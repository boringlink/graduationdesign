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2fcde5b52a454c" /><Relationship Type="http://schemas.openxmlformats.org/officeDocument/2006/relationships/extended-properties" Target="/docProps/app.xml" Id="Rac50c65280f4458c" /><Relationship Type="http://schemas.openxmlformats.org/officeDocument/2006/relationships/officeDocument" Target="/ppt/presentation.xml" Id="Rd4b547d047df4e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ac5bfbbd074c54"/>
  </p:sldMasterIdLst>
  <p:notesMasterIdLst>
    <p:notesMasterId xmlns:r="http://schemas.openxmlformats.org/officeDocument/2006/relationships" r:id="Rca3632151b9e4413"/>
  </p:notesMasterIdLst>
  <p:sldIdLst>
    <p:sldId xmlns:r="http://schemas.openxmlformats.org/officeDocument/2006/relationships" id="256" r:id="R01f6e62fa4ec4b75"/>
    <p:sldId xmlns:r="http://schemas.openxmlformats.org/officeDocument/2006/relationships" id="257" r:id="R4334550e88834287"/>
    <p:sldId xmlns:r="http://schemas.openxmlformats.org/officeDocument/2006/relationships" id="258" r:id="R7d23a992ef584e95"/>
    <p:sldId xmlns:r="http://schemas.openxmlformats.org/officeDocument/2006/relationships" id="259" r:id="R3e57e84677d44075"/>
    <p:sldId xmlns:r="http://schemas.openxmlformats.org/officeDocument/2006/relationships" id="260" r:id="R3d10bb339f2a42b1"/>
    <p:sldId xmlns:r="http://schemas.openxmlformats.org/officeDocument/2006/relationships" id="261" r:id="R8d6d71f0c42b4882"/>
    <p:sldId xmlns:r="http://schemas.openxmlformats.org/officeDocument/2006/relationships" id="262" r:id="Rec954a8c553d4e27"/>
    <p:sldId xmlns:r="http://schemas.openxmlformats.org/officeDocument/2006/relationships" id="263" r:id="Rba9113c2a307404d"/>
    <p:sldId xmlns:r="http://schemas.openxmlformats.org/officeDocument/2006/relationships" id="264" r:id="R10c81e23400943e5"/>
    <p:sldId xmlns:r="http://schemas.openxmlformats.org/officeDocument/2006/relationships" id="265" r:id="R0f70932725c14f64"/>
    <p:sldId xmlns:r="http://schemas.openxmlformats.org/officeDocument/2006/relationships" id="266" r:id="R56db676e6af749d9"/>
    <p:sldId xmlns:r="http://schemas.openxmlformats.org/officeDocument/2006/relationships" id="267" r:id="Rb5e5449b20a64bcf"/>
    <p:sldId xmlns:r="http://schemas.openxmlformats.org/officeDocument/2006/relationships" id="268" r:id="R58c003002511482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ac5bfbbd074c54" /><Relationship Type="http://schemas.openxmlformats.org/officeDocument/2006/relationships/theme" Target="/ppt/theme/theme1.xml" Id="R1b14bb4287564689" /><Relationship Type="http://schemas.openxmlformats.org/officeDocument/2006/relationships/notesMaster" Target="/ppt/notesMasters/notesMaster1.xml" Id="Rca3632151b9e4413" /><Relationship Type="http://schemas.openxmlformats.org/officeDocument/2006/relationships/presProps" Target="/ppt/presProps.xml" Id="R93af762e7b6f44b9" /><Relationship Type="http://schemas.openxmlformats.org/officeDocument/2006/relationships/viewProps" Target="/ppt/viewProps.xml" Id="R1362b19a8b494114" /><Relationship Type="http://schemas.openxmlformats.org/officeDocument/2006/relationships/tableStyles" Target="/ppt/tableStyles.xml" Id="Ref825aee827046ac" /><Relationship Type="http://schemas.openxmlformats.org/officeDocument/2006/relationships/slide" Target="/ppt/slides/slide1.xml" Id="R01f6e62fa4ec4b75" /><Relationship Type="http://schemas.openxmlformats.org/officeDocument/2006/relationships/slide" Target="/ppt/slides/slide2.xml" Id="R4334550e88834287" /><Relationship Type="http://schemas.openxmlformats.org/officeDocument/2006/relationships/slide" Target="/ppt/slides/slide3.xml" Id="R7d23a992ef584e95" /><Relationship Type="http://schemas.openxmlformats.org/officeDocument/2006/relationships/slide" Target="/ppt/slides/slide4.xml" Id="R3e57e84677d44075" /><Relationship Type="http://schemas.openxmlformats.org/officeDocument/2006/relationships/slide" Target="/ppt/slides/slide5.xml" Id="R3d10bb339f2a42b1" /><Relationship Type="http://schemas.openxmlformats.org/officeDocument/2006/relationships/slide" Target="/ppt/slides/slide6.xml" Id="R8d6d71f0c42b4882" /><Relationship Type="http://schemas.openxmlformats.org/officeDocument/2006/relationships/slide" Target="/ppt/slides/slide7.xml" Id="Rec954a8c553d4e27" /><Relationship Type="http://schemas.openxmlformats.org/officeDocument/2006/relationships/slide" Target="/ppt/slides/slide8.xml" Id="Rba9113c2a307404d" /><Relationship Type="http://schemas.openxmlformats.org/officeDocument/2006/relationships/slide" Target="/ppt/slides/slide9.xml" Id="R10c81e23400943e5" /><Relationship Type="http://schemas.openxmlformats.org/officeDocument/2006/relationships/slide" Target="/ppt/slides/slide10.xml" Id="R0f70932725c14f64" /><Relationship Type="http://schemas.openxmlformats.org/officeDocument/2006/relationships/slide" Target="/ppt/slides/slide11.xml" Id="R56db676e6af749d9" /><Relationship Type="http://schemas.openxmlformats.org/officeDocument/2006/relationships/slide" Target="/ppt/slides/slide12.xml" Id="Rb5e5449b20a64bcf" /><Relationship Type="http://schemas.openxmlformats.org/officeDocument/2006/relationships/slide" Target="/ppt/slides/slide13.xml" Id="R58c00300251148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2ff72e4cbcf48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336b872eef404d" /><Relationship Type="http://schemas.openxmlformats.org/officeDocument/2006/relationships/notesMaster" Target="/ppt/notesMasters/notesMaster1.xml" Id="R0dcd4bb6f0f346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8a0639880e4fe9" /><Relationship Type="http://schemas.openxmlformats.org/officeDocument/2006/relationships/notesMaster" Target="/ppt/notesMasters/notesMaster1.xml" Id="R32d104f7fd684a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47a8cfca1041b8" /><Relationship Type="http://schemas.openxmlformats.org/officeDocument/2006/relationships/notesMaster" Target="/ppt/notesMasters/notesMaster1.xml" Id="R333fff3dae6240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9dc4a40df5441d" /><Relationship Type="http://schemas.openxmlformats.org/officeDocument/2006/relationships/notesMaster" Target="/ppt/notesMasters/notesMaster1.xml" Id="R23434561d7ac4c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1c84169a13489c" /><Relationship Type="http://schemas.openxmlformats.org/officeDocument/2006/relationships/notesMaster" Target="/ppt/notesMasters/notesMaster1.xml" Id="R6e6355500a1146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2167aef34743ee" /><Relationship Type="http://schemas.openxmlformats.org/officeDocument/2006/relationships/notesMaster" Target="/ppt/notesMasters/notesMaster1.xml" Id="Reb655f1892ea4f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11bd63c8ac44e9" /><Relationship Type="http://schemas.openxmlformats.org/officeDocument/2006/relationships/notesMaster" Target="/ppt/notesMasters/notesMaster1.xml" Id="R7be6d33a9d184a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1962d6f4524fbf" /><Relationship Type="http://schemas.openxmlformats.org/officeDocument/2006/relationships/notesMaster" Target="/ppt/notesMasters/notesMaster1.xml" Id="Rce8c035a18ea4c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82f0deed634140" /><Relationship Type="http://schemas.openxmlformats.org/officeDocument/2006/relationships/notesMaster" Target="/ppt/notesMasters/notesMaster1.xml" Id="R3d1b700e4dc14f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38ace455784813" /><Relationship Type="http://schemas.openxmlformats.org/officeDocument/2006/relationships/notesMaster" Target="/ppt/notesMasters/notesMaster1.xml" Id="Rd5c395ba33494a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ac0abc697a48e8" /><Relationship Type="http://schemas.openxmlformats.org/officeDocument/2006/relationships/notesMaster" Target="/ppt/notesMasters/notesMaster1.xml" Id="R668b0371ca9c42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793f87163b4176" /><Relationship Type="http://schemas.openxmlformats.org/officeDocument/2006/relationships/notesMaster" Target="/ppt/notesMasters/notesMaster1.xml" Id="R67e4bd2802c649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1b7da0c3d944f6" /><Relationship Type="http://schemas.openxmlformats.org/officeDocument/2006/relationships/notesMaster" Target="/ppt/notesMasters/notesMaster1.xml" Id="Rb8dbe1f9ca0441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开场说明题目和系统定位：本设计面向中小学生编程学习，不是单独做聊天机器人，而是做一个覆盖课程、练习、反馈、互动和记录的完整平台。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这一页解释选题动机：中小学生编程入门阶段，困难连续出现。平台要解决的不是单点问答，而是把反馈、过程记录和教师干预接入学习链条。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说明主要工作：实现平台底座、在线代码运行、大模型辅学和测试验证。强调本文的差异点是流程嵌入与教学约束，而不是单纯调用模型接口。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这一页讲需求分析。学生关注操作清晰和反馈及时，教师关注组织能力、观察能力和干预能力。系统设计围绕这两类角色展开。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讲总体架构：前端负责页面和交互，后端负责认证、业务接口、数据持久化与智能能力调度。模型调用和代码执行不是混在一起，而是在各自边界内接入。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说明功能模块：课程学习、在线编程、智能辅学、资源管理、消息互动、学习记录和系统管理。重点讲它们如何形成闭环，而不是逐个罗列。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这一页讲在线编程实现。页面创建 Worker，Worker 加载 Pyodide 和 WASM 执行 Python。主线程与 Worker 只通过消息通信，既减少页面阻塞，也降低后端执行风险。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这一页讲智能辅学。系统不把所有问题都交给通用问答，而是先区分场景，再使用不同提示模板和输出结构。报错解析、问题分解等功能强调启发式引导，避免直接给完整答案。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讲数据库设计：用户、课程、任务、知识点、资源、评论、点赞和学习记录形成业务关系。强调 records 表保存过程数据，为教师观察和后续分析提供基础。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这一页快速展示系统界面。登录页负责身份识别和角色路由；学生端展示进度、错误、资源和消息；教师端展示班级进度、错误分布、学习记录和资源维护入口。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讲测试验证。功能测试覆盖认证、在线编程、报错分析、消息互动、资源和课程管理。性能侧说明典型代码执行、模型响应和服务器配置。注意不要把系统可用性等同于教学效果。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这一页讲安全与可控。认证层保证谁能访问，代码层保证学生代码不会失控，教学层保证模型输出不会脱离课程目标。核心观点是：大模型进入课堂必须有边界和可追踪机制。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最后总结三点：系统已经完成设计与实现，智能辅学嵌入学习流程，核心功能经过验证。展望部分主动承认目前缺少大规模课堂实验和压力测试，后续可做知识库、学习者建模和教学实验。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0e80410c84fb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f706716a5c840b3" /><Relationship Type="http://schemas.openxmlformats.org/officeDocument/2006/relationships/slideLayout" Target="/ppt/slideLayouts/slideLayout2.xml" Id="R81f6089c074342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f6089c074342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8366ea53ca494a" /><Relationship Type="http://schemas.openxmlformats.org/officeDocument/2006/relationships/notesSlide" Target="/ppt/notesSlides/notesSlide1.xml" Id="R03076f63885542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944f5e7e2f41be" /><Relationship Type="http://schemas.openxmlformats.org/officeDocument/2006/relationships/notesSlide" Target="/ppt/notesSlides/notesSlide2.xml" Id="R3eab3702650e44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ada83921294955" /><Relationship Type="http://schemas.openxmlformats.org/officeDocument/2006/relationships/notesSlide" Target="/ppt/notesSlides/notesSlide3.xml" Id="R4fba62440a264e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ea015186714cac" /><Relationship Type="http://schemas.openxmlformats.org/officeDocument/2006/relationships/notesSlide" Target="/ppt/notesSlides/notesSlide4.xml" Id="Rf2bb754c781145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02e9610d464197" /><Relationship Type="http://schemas.openxmlformats.org/officeDocument/2006/relationships/image" Target="/ppt/media/image.png" Id="R524e4f0993b14692" /><Relationship Type="http://schemas.openxmlformats.org/officeDocument/2006/relationships/notesSlide" Target="/ppt/notesSlides/notesSlide5.xml" Id="R1573b4f5c4b94d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ddb05604ce4a12" /><Relationship Type="http://schemas.openxmlformats.org/officeDocument/2006/relationships/image" Target="/ppt/media/image2.png" Id="R8f6e1f5b2647495f" /><Relationship Type="http://schemas.openxmlformats.org/officeDocument/2006/relationships/notesSlide" Target="/ppt/notesSlides/notesSlide6.xml" Id="R5947b872e2f544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af7db1c9274501" /><Relationship Type="http://schemas.openxmlformats.org/officeDocument/2006/relationships/image" Target="/ppt/media/image3.png" Id="R647e8a3748024517" /><Relationship Type="http://schemas.openxmlformats.org/officeDocument/2006/relationships/image" Target="/ppt/media/image4.png" Id="Rffa60a68bb514fc0" /><Relationship Type="http://schemas.openxmlformats.org/officeDocument/2006/relationships/notesSlide" Target="/ppt/notesSlides/notesSlide7.xml" Id="Rbf886f38e0e641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6ef49e043f4ace" /><Relationship Type="http://schemas.openxmlformats.org/officeDocument/2006/relationships/image" Target="/ppt/media/image5.png" Id="R0d4ca50e8c0647ac" /><Relationship Type="http://schemas.openxmlformats.org/officeDocument/2006/relationships/notesSlide" Target="/ppt/notesSlides/notesSlide8.xml" Id="Rc31898ba59944a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5c7ee959514f2e" /><Relationship Type="http://schemas.openxmlformats.org/officeDocument/2006/relationships/image" Target="/ppt/media/image6.png" Id="R2c282deb6f6b45df" /><Relationship Type="http://schemas.openxmlformats.org/officeDocument/2006/relationships/notesSlide" Target="/ppt/notesSlides/notesSlide9.xml" Id="Ra91f78e6595649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d2f3bef8a942b1" /><Relationship Type="http://schemas.openxmlformats.org/officeDocument/2006/relationships/image" Target="/ppt/media/image7.png" Id="R82b4eb8d2fe84e44" /><Relationship Type="http://schemas.openxmlformats.org/officeDocument/2006/relationships/image" Target="/ppt/media/image8.png" Id="Ra11950a8a8fc45bc" /><Relationship Type="http://schemas.openxmlformats.org/officeDocument/2006/relationships/image" Target="/ppt/media/image9.png" Id="R370ca03837c84f92" /><Relationship Type="http://schemas.openxmlformats.org/officeDocument/2006/relationships/image" Target="/ppt/media/image10.png" Id="R641344210d174f31" /><Relationship Type="http://schemas.openxmlformats.org/officeDocument/2006/relationships/notesSlide" Target="/ppt/notesSlides/notesSlide10.xml" Id="R3c9b547da2c449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4983201784446c" /><Relationship Type="http://schemas.openxmlformats.org/officeDocument/2006/relationships/notesSlide" Target="/ppt/notesSlides/notesSlide11.xml" Id="Re0924b59fa024f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a4d3dfc6124eea" /><Relationship Type="http://schemas.openxmlformats.org/officeDocument/2006/relationships/notesSlide" Target="/ppt/notesSlides/notesSlide12.xml" Id="Raa98818e52ac40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70e1c7d8d64efe" /><Relationship Type="http://schemas.openxmlformats.org/officeDocument/2006/relationships/notesSlide" Target="/ppt/notesSlides/notesSlide13.xml" Id="R1e6dc6bd070443e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FA916B-D3E7-4FC3-B653-B5AA672F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AFF34-8E76-40C5-A8C8-6BB45DEA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95698-E6EE-4091-B503-4622CC76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A2E0E-F385-4D88-AEA4-6D198075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0B045-8196-458D-8491-51415767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6D6F6-2480-4B84-B26E-047AC90C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FE7F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FE7F2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23639-E48F-41D7-9AE2-973F3173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2724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基于大模型的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中小学生智能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编程学习平台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设计与实现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EB6C3-854D-4534-928F-67258B0B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2ED92-556C-444E-BD52-5E0C3405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EEF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D8EEF7"/>
                </a:solidFill>
                <a:latin typeface="PingFang SC"/>
                <a:ea typeface="PingFang SC"/>
                <a:cs typeface="PingFang SC"/>
              </a:rPr>
              <a:t>Design and Implementation of an Intelligent Programming Learning Platform for Primary and Secondary School Students Based on Large Language Models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9655E-7326-4453-A107-57636309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3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9E1F6-D086-456B-82D7-B29D054B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954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作者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EED76-91BB-4A89-8E33-4DF9ABDA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193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林柏伟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EE14A-2388-47DA-AA04-947287F4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2400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3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DFA900-A443-44DB-B88F-5C7DBF55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954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专业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B85F3-273C-435E-A3FC-047ABBA5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193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计算机科学与技术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D2ACAF-3D7F-4103-BF63-C7213469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2400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3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AA64C1-4F4D-4905-A6AC-D5B7BAF4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954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指导教师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13AC74-507B-47E0-AAF4-6BBD40DB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193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匡振中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76C29-E7F8-4B03-9AB3-585B8B12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2A47F2-EE05-47E7-882C-9E046A5D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学校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6AF7E8-479B-4024-B93A-BF413BE7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623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杭州电子科技大学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C39EC0-3D84-4397-A33A-53D559B2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670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3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643CA6-E9E1-4B12-9A48-29BE590C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385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日期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96379A-38A6-4239-AC0F-CA5691C3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623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2026 年 5 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694310-0BC2-4BB7-9E80-BFE7DDD2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3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6EBB33-8FBF-4FAD-A6D9-04AEFC1E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定位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805035-7C83-4002-82F2-9687F759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623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工程实现型答辩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92DA34-76F4-4773-8074-D3CDB8BF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4350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主线：学生动手、教师可控、大模型辅助</a:t>
            </a:r>
          </a:p>
        </p:txBody>
      </p:sp>
    </p:spTree>
    <p:extLst>
      <p:ext uri="{BB962C8B-B14F-4D97-AF65-F5344CB8AC3E}">
        <p14:creationId xmlns:p14="http://schemas.microsoft.com/office/powerpoint/2010/main" val="2004205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11A97E-5594-46E9-B4FB-8560BB2B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1A3DE-901B-4C3D-9FDD-0825E404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1F47D-F477-45BB-8690-CD0936FE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0A039-EC54-4FC1-B921-DDAA9A35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7490"/>
                </a:solidFill>
                <a:latin typeface="PingFang SC"/>
                <a:ea typeface="PingFang SC"/>
                <a:cs typeface="PingFang SC"/>
              </a:rPr>
              <a:t>01 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4D5D4-3B43-4B24-95D8-12B29560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编程学习的难点不只在写代码，而在持续反馈与过程支持。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C4F56-F999-43A6-92AB-52524170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ADE6A-6D39-44D5-A8AC-6096CD44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3434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EDBFD-1803-4B25-B1DA-B52B295C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95B74-2C8F-46FE-9F11-43775AEF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报错看不懂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94FB3-323E-4AA9-878E-CF9E649B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3600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初学者能看到错误信息，却难以判断含义、位置和修改顺序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FB479-4DA5-4C72-86C1-078AFB18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33600"/>
            <a:ext cx="43434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8DB6B-AEE8-4514-8F74-4B1F941D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336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79AAC-BC2A-441C-9A72-67D44874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622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任务不会拆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AE0D4-0FCC-4CDD-84A3-6C92A4E5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43200"/>
            <a:ext cx="3600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综合任务需要输入、处理、判断、循环、输出的分解能力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F9CD3-84D0-4AC0-A1EF-D795E3F3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3434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B1C4F-9398-4524-ACD3-0FBFE3A1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8115A-CE42-4E28-8B4A-4B837AE8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反馈不及时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6A1CF9-B9E1-451C-84A9-174E5C19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9600"/>
            <a:ext cx="3600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教师课堂时间有限，难以对每名学生持续跟进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CF240-C37C-4672-A407-4898F623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10000"/>
            <a:ext cx="43434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BA6A90-46AD-4AB5-9116-4A60012E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100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FD0E31-3B97-4BC5-984D-53A44E9F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38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过程难追踪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008E5E-2F79-4B46-A012-CFB6B8F4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19600"/>
            <a:ext cx="3600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只看最终结果，难以发现高频错误和长期卡点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479072-C89E-460C-BEF4-AABD3064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811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A4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2A4A"/>
                </a:solidFill>
                <a:latin typeface="PingFang SC"/>
                <a:ea typeface="PingFang SC"/>
                <a:cs typeface="PingFang SC"/>
              </a:rPr>
              <a:t>LLM 的价值在于把“抽象概念、错误信息、任务步骤”转换成学生接得住的反馈。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052207-94C2-4847-893D-B4C94F28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21F23C-3736-4D47-B800-30DA427B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基于大模型的中小学生智能编程学习平台设计与实现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4119AF-F9E4-4ABF-9B88-CB33F6FD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597169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5A8BCB-8881-4910-90FC-131115CF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56E2F-4625-40B7-9B3A-1C2421CE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E8DAE-EC12-47FA-9A2E-E38402B1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8B2B7-C3EB-4391-8280-D09269BB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7490"/>
                </a:solidFill>
                <a:latin typeface="PingFang SC"/>
                <a:ea typeface="PingFang SC"/>
                <a:cs typeface="PingFang SC"/>
              </a:rPr>
              <a:t>02 研究目标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16C9F-4591-4FA8-B5A2-62268E19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不是外接聊天窗口，而是嵌入学习流程的智能辅学平台。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CAF09-E29B-4E3C-BDBA-AB26AF78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4CAC9-834F-4902-A203-41DD5F90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F9227-A8F3-4A24-BE66-4462D073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9A68F-88B4-4E8B-91E4-4261F157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8A86C-EB03-49E3-95FB-6A121A90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平台建设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1DBC1-D7A2-45FC-B81B-4F90A71D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学生端与教师端双角色闭环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4BB36-B0C7-4F6B-8608-2471788E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153D6-22C0-467E-851F-45A15DC8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6237A-FF39-4F21-8D85-900C44C2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479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06B77-CFFB-445F-AF7F-9473F010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0985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在线编程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5BA01-977D-4357-83F6-7E34CC32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3845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浏览器沙箱执行 Python 代码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1BC66D-4321-404F-B251-7E5C5679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0955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3AB95-87B5-4B40-B5DC-C8BDCAAB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095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ED2861-8D86-4670-B801-96D29EB3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479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749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E749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5D127-E133-4948-8743-8A2157ED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0985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智能辅学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3EDABF-5E46-43BB-B473-55218C5B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3845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解释、报错、拆解、建模、算法引导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8A2B2C-AA08-4506-BD53-7202F539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955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65A1EE-A6F7-45C5-8A2B-00B9ECFB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95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AD91C9-A2CD-4AC4-AB76-A8BF1AF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2D9C9B-7228-4839-99CC-37B80BE6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985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测试验证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DF14C8-AC21-4557-A5E4-440778CD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3845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功能、安全、性能和界面验证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CF4DBB-9A6E-4D0D-9CC0-A5C5ED3C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8134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450039-F520-4872-A563-6602814D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719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研究主张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F86787-DAE7-41D4-A3B5-C1670771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95800"/>
            <a:ext cx="7258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大模型在本系统中承担“学习支架”角色：学生仍然动手编程，教师仍然保留观察和干预权，模型只在卡点处提供结构化、适龄化、可追踪的辅助。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8E8166-EBA4-41D7-AB20-56F76810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8F71FE-C339-4686-820B-B12E3500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基于大模型的中小学生智能编程学习平台设计与实现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8922EB-584D-466C-9BB2-3262C2EA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697607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5F702B-D9B0-4C50-BC92-2D1CBAC2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A1114-CE6B-4664-88CE-AD888E14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22AB7-5D18-4449-9DEA-4A6D6D02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6E0C4-8366-41A8-A210-4857AB76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7490"/>
                </a:solidFill>
                <a:latin typeface="PingFang SC"/>
                <a:ea typeface="PingFang SC"/>
                <a:cs typeface="PingFang SC"/>
              </a:rPr>
              <a:t>03 场景与需求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F3114-E347-4091-BB9E-8143F682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平台围绕“课前准备—课中练习—课后反馈—过程评价”组织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E4B89-19BB-4194-938C-63C7F2E6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6EAEB-E33F-4AA6-B7B9-18884EAD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4476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0A73D-3B98-42C6-9C8F-A8A5407A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33600"/>
            <a:ext cx="4476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04159-027D-4A4A-9A63-615FDBC3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学生侧：学、练、问、看记录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A1384-255E-41C9-A1A2-A663DAA5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BF8D2-3AD2-4977-B20E-036CF921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90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查看课程与学习任务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751A72-4E90-4DD4-9226-DC47A6C6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19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明确当前学什么、做到什么程度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71D6B-15E9-44D2-869E-EEF85401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143661-0E62-4C98-B030-1ECF1011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86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在线编写并运行代码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8D4C3-7BCD-4F4D-AF95-8BC9E560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147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及时获得输出、错误和输入反馈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5EFE6-CF74-46D3-AA6A-90E7DFBE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8046FA-2D31-4F77-96E9-B4EA6845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814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获取代码解释与报错分析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CA852-4BC3-4D51-B7B0-4C6E0002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1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把技术化报错转成可操作线索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93EF2-6F95-494F-8E9E-C1BF1611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D22245-2442-4EE7-A91F-FDF06D21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767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回看学习进度和历史记录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556C0C-C8F5-42A3-B336-E4D81176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053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形成可感知的成长反馈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3729F-32F7-42E0-B83D-1C9F88F0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教师侧：组织、观察、干预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6D9F0-3E55-4DEF-B9D0-88B320D4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04D057-257C-4BA3-8E2C-4BFD7B85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90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维护课程、知识点和资源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A620BE-34A5-4C18-AC23-AD026C27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让教学内容与课堂进度保持一致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3BA16D-3B1D-4391-8165-BE97B6CE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49BBF6-A88E-4102-96A5-DD5ABB9C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86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查看进度和错误分布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B62D8A-EF6F-455F-A968-A7760E19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147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定位班级共性问题与个体卡点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8BCC2E-381A-4EED-84FF-51422F88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57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C6FBD1-605E-4595-9328-3719F5A2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814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通过消息与资源补充介入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EEC4F1-77A9-4638-8360-8A7177EC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1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保留人在回路的教学判断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A062D1-6CE4-498A-99FF-5174671C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52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5013A0-8815-4F34-9672-6E6A8EE6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767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管理权限与资源可见范围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F15442-C181-4172-8B67-5785258E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53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支撑分层教学和数据安全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0232EC-8C42-4B1D-A57D-02E8B307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242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5E1FC4-319E-4A63-B1E1-EED48892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004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749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E7490"/>
                </a:solidFill>
                <a:latin typeface="PingFang SC"/>
                <a:ea typeface="PingFang SC"/>
                <a:cs typeface="PingFang SC"/>
              </a:rPr>
              <a:t>协同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A399BF-D82D-43B8-86DC-F4FCC9B2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C81D7E-EFFA-476A-B757-B30A3450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基于大模型的中小学生智能编程学习平台设计与实现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0CBC02-CD47-412D-966F-FD718F0F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283025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616B71-FA85-42AB-98C3-44A26541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55179-82A7-4293-9A7E-FF583770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11227-2A02-4EBB-9B6D-2D0BDED0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DFB98-C4F0-43FF-A586-9195A33E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7490"/>
                </a:solidFill>
                <a:latin typeface="PingFang SC"/>
                <a:ea typeface="PingFang SC"/>
                <a:cs typeface="PingFang SC"/>
              </a:rPr>
              <a:t>04 总体架构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534BD-26F0-4CB8-8E5A-DE6E8770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前后端分离承载业务流程，模型服务与代码执行分别受控接入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0AFB3-0FB2-4662-BDA8-50BC8371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5AD80-737C-4105-AD07-9001D18A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4293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e4f0993b14692"/>
          <a:stretch xmlns:a="http://schemas.openxmlformats.org/drawingml/2006/main"/>
        </p:blipFill>
        <p:spPr>
          <a:xfrm xmlns:a="http://schemas.openxmlformats.org/drawingml/2006/main">
            <a:off x="2604040" y="2114550"/>
            <a:ext cx="2592895" cy="35623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EBC0C-E746-4DA5-8F86-D55228F6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2857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5427C-C9DA-42D5-BC89-19B747CF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技术栈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A7520-425C-4E62-963F-F89A1831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003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前端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208FF-16FC-4C6E-BFC9-F752A64A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Nuxt 3 / Vue 3 / TypeScript / Tailwind CSS / DaisyUI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23ECF-6E35-460F-B209-EE5AD77C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861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后端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49B71-D4AD-4028-84F7-52273620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FastAPI / SQLAlchemy / JWT / Uvicorn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783AB-9CC1-4138-938D-1DB90EC0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719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68FD9-DC87-481C-8B68-5FFEC627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SQL Server / Redis / 阿里云 OSS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44ACF-6CF1-45E2-8704-1CE75355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577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智能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A503C0-0872-4E2A-AC6E-AC37DC5B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5775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DashScope / OpenAI / 智谱 GLM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4D292-75E1-47E0-AA38-2B06A708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6AB51C-FA41-492F-A959-AA04B001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基于大模型的中小学生智能编程学习平台设计与实现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2CCF0F-5A6E-4F7A-98C5-B3D547B2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243330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8559E3-4545-4546-923F-CA087CC6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64046-13CB-4C71-9E5D-C70C47F2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C4EF2-6882-4C27-944F-659ACB2F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C4664-0FF1-48E3-B773-8F169C79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7490"/>
                </a:solidFill>
                <a:latin typeface="PingFang SC"/>
                <a:ea typeface="PingFang SC"/>
                <a:cs typeface="PingFang SC"/>
              </a:rPr>
              <a:t>05 功能模块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38A42-EB4C-4DCD-BD93-3E639701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系统模块围绕学生学习流程和教师管理流程展开。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72B3B-74A1-4AF4-8B1C-74C8DB57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91F16-0FF4-4A62-AC6D-396BF6D7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6191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e1f5b2647495f"/>
          <a:stretch xmlns:a="http://schemas.openxmlformats.org/drawingml/2006/main"/>
        </p:blipFill>
        <p:spPr>
          <a:xfrm xmlns:a="http://schemas.openxmlformats.org/drawingml/2006/main">
            <a:off x="1183865" y="2114550"/>
            <a:ext cx="5309419" cy="3657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85AA1-39D7-4BBF-B24D-F3B8AC70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38350"/>
            <a:ext cx="3048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140E6-1245-4ADC-AF46-99B7DE6A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模块关系不是并列堆叠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74085-D555-4E0F-83AB-79F35527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575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课程学习与在线编程构成学生主流程；智能辅学嵌入卡点场景；资源、消息和学习记录为教师观察与干预提供入口。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E2886-CA1D-4576-8BC8-FD490E07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148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核心闭环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19629-D5B6-4EC6-AA58-5E7D427B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577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登录认证 → 课程访问 → 代码提交 → 智能反馈 → 行为记录 → 教师干预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E15C8-1CE1-4A8D-B446-E1CDE779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BD33D-B003-4D48-BA83-C89641BF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基于大模型的中小学生智能编程学习平台设计与实现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40C449-94CD-4EFA-8988-C61F51B7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837614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065DEE-11E6-4298-8AEE-B51F8367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5093E-9CF4-4899-9E43-C3AF9F5E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37754-C363-4E3D-BC93-08D019DB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3F196-8307-4903-8053-4B11E4A6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7490"/>
                </a:solidFill>
                <a:latin typeface="PingFang SC"/>
                <a:ea typeface="PingFang SC"/>
                <a:cs typeface="PingFang SC"/>
              </a:rPr>
              <a:t>06 核心实现：在线编程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F5EF9-0468-4323-A249-24FF68CE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学生代码迁移到浏览器沙箱执行，降低后端直接运行风险。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B2B18-7D0A-4952-9A8F-5683D863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46595-312C-4008-9BDF-7BF23ADE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40957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e8a3748024517"/>
          <a:stretch xmlns:a="http://schemas.openxmlformats.org/drawingml/2006/main"/>
        </p:blipFill>
        <p:spPr>
          <a:xfrm xmlns:a="http://schemas.openxmlformats.org/drawingml/2006/main">
            <a:off x="791898" y="2133600"/>
            <a:ext cx="3845455" cy="35814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16D79-2248-471B-B47B-51B6D9BB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57400"/>
            <a:ext cx="2381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60a68bb514fc0"/>
          <a:stretch xmlns:a="http://schemas.openxmlformats.org/drawingml/2006/main"/>
        </p:blipFill>
        <p:spPr>
          <a:xfrm xmlns:a="http://schemas.openxmlformats.org/drawingml/2006/main">
            <a:off x="5105400" y="2165223"/>
            <a:ext cx="2228850" cy="3518154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7CB30-3794-40BC-8500-4A4CFE9E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57400"/>
            <a:ext cx="28575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29B04-E55B-477D-B144-E5C35E4B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关键机制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4E6AD-C36C-48EC-A74F-A9484934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7655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6C502-D549-4D73-A8CD-8747E08B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2417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Web Worker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3EEBA-B9C9-4D61-8907-13D152A6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765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C90169-9CF2-4A85-A762-7581462D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24175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Pyodide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3C26E6-3D7D-4020-A960-2EA96909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5755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47087D-163E-4E21-AC0A-1FBA3251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051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E7490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0E7490"/>
                </a:solidFill>
                <a:latin typeface="PingFang SC"/>
                <a:ea typeface="PingFang SC"/>
                <a:cs typeface="PingFang SC"/>
              </a:rPr>
              <a:t>WebAssembly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5037CD-8C72-43E0-A0AC-B2EA08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575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7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50C50-3D1D-4170-896B-A04FDA19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0517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postMessage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E88461-5EA3-43D3-9096-0982AB85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243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执行链路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1F5636-8547-483F-8372-D8A58197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481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终端初始化 → 运行时加载 → 代码投递 → 浏览器端执行 → 结果回传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6E1589-4630-4244-9681-FACA4575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101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服务端主要保留课程、任务、记录和资源接口职责，代码运行压力与风险从后端服务进程中剥离。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D1B246-6D38-4A48-A74C-C65C0308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32324B-5E7A-4415-8C03-7F029856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基于大模型的中小学生智能编程学习平台设计与实现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ED7711-4F84-4EA8-A476-240C0F68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851964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038AAB-758C-4122-882E-48135DF7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672C3-17FB-47AB-AAB7-96E2E218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D3563-47BE-4B84-A98D-21543995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B4702-3827-4F56-99B9-23127DC4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7490"/>
                </a:solidFill>
                <a:latin typeface="PingFang SC"/>
                <a:ea typeface="PingFang SC"/>
                <a:cs typeface="PingFang SC"/>
              </a:rPr>
              <a:t>07 核心实现：智能辅学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B2B7B-4ADB-44F3-85DA-A6FCD7A2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大模型能力按学习场景拆分，并通过提示约束和风险兜底控制输出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D0BBC-1CF6-4D5E-BB12-5233E005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226B2-DA0D-43B3-9D86-9A34F40F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52197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ca50e8c0647ac"/>
          <a:stretch xmlns:a="http://schemas.openxmlformats.org/drawingml/2006/main"/>
        </p:blipFill>
        <p:spPr>
          <a:xfrm xmlns:a="http://schemas.openxmlformats.org/drawingml/2006/main">
            <a:off x="1771465" y="2114550"/>
            <a:ext cx="316267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F683F-BDFA-4CB2-B178-5737541F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5740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94014-5E45-403A-8E1B-C38B86DF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自由问答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E2C5E6-4BA3-4ADE-A53D-48F5B10F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9555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概念解释与思路提示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9CC79-E272-4621-9EE1-B7DC76BA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1C444-F795-4ADF-B853-982E3AA5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代码解释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8BC61-4444-4994-840F-29EC86CF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9555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先整体、再局部解释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48173-878F-461F-946C-6687951C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2420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68021-645A-41FF-946F-F4802C9E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报错解析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8CB9A5-65AC-4439-B566-16E76D29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6235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含义、位置、修改引导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36B9D-0E46-4F00-B40F-886FC57F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2420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D9B48D-C23E-496C-AB2A-2F2E704A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766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问题分解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1A698F-3E80-4AF5-B9DD-B6CBBD20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6235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把综合任务拆成步骤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27B696-6DA7-4927-9231-804944E6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9100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2FD79C-3CCD-487B-A54D-0066B340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434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抽象建模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7888CF-D7BC-4323-90F4-680A6964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2915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从具体问题提炼规律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9D33AB-FE84-42D8-A71A-E33C1F28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9100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B8FCC6-31A8-4C19-9DAA-6523F9C2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434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算法设计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477FAC-240D-4DDB-AB60-F28217FB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2915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用模板组织解题流程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6865D9-1801-43F8-8B07-F7420890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14950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5FB644-46E1-450A-974C-70F0F075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67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四层约束：场景识别 → 约束生成 → 教学化输出 → 风险兜底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F4A3EC-B597-4307-9A91-6947B574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0C1170-2132-4868-89F6-9855F46C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基于大模型的中小学生智能编程学习平台设计与实现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CB0A9F-9ADD-410B-977F-F53CA94F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047028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4FF4A2-550C-4C5F-8022-9D4CC2B3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49D6C-BC48-49E6-B6BE-F3A9C724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C9AC8-A899-4B24-9112-E88A5D0D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D19F2-628C-411A-9771-1DE9397E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7490"/>
                </a:solidFill>
                <a:latin typeface="PingFang SC"/>
                <a:ea typeface="PingFang SC"/>
                <a:cs typeface="PingFang SC"/>
              </a:rPr>
              <a:t>08 数据设计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BE583-D0DD-4810-93DC-600694CF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数据库不只保存结果，也保存学习过程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5F2F4-E26C-48EC-BB1A-78C007A1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DA487-E34D-4053-A380-0CC9AC4F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52578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82deb6f6b45df"/>
          <a:stretch xmlns:a="http://schemas.openxmlformats.org/drawingml/2006/main"/>
        </p:blipFill>
        <p:spPr>
          <a:xfrm xmlns:a="http://schemas.openxmlformats.org/drawingml/2006/main">
            <a:off x="1063130" y="2114550"/>
            <a:ext cx="4541239" cy="35623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24F06-F109-4413-956A-EED77424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3810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FE5A5-980F-4D4D-B75A-582F99AE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241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核心数据表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A50F3-EDB1-476A-B16D-21873DFA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76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A1EF4-DC46-4CC9-A531-B8151436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194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6EB31-803A-4CDE-90BF-26D7DDDE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194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用户、角色、学校、班级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4CD10-B071-43D4-B3CF-CCBCECD7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48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D9F6A-28EA-44F9-9C49-85F88424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9087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courses / contents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36B1B6-12B5-41FB-B06A-ABCD7320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908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课程结构与内容索引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147D16-EF05-47CE-9594-B0082CB3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F09CD7-139A-47E2-9935-BC47B6DD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623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tasks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671E70-54D1-4315-956E-B19BA11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623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任务代码、状态与时间信息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91FBE-A028-4E79-AE8E-880AD6A7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90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37DC2D-8590-4961-A899-16AE7370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338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knowledges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35757B-830F-432E-B8CA-F235A99F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338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知识点与课程内容关联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8E14E8-930C-4E64-B069-8B397460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62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A9792F-BC30-4204-BB60-19FEDCDB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053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resources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2F5092-16A8-4CBE-A69C-2CBDF955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053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教学资源与权限信息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5A05AA-8BCB-49C9-A47F-3019F124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33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A5E665-2032-41AF-9FFB-BE2F84D8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7677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comments / likes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F1E083-8614-4391-A5F3-AE6691A1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767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消息互动与点赞关系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3C623B-6992-4B9F-B27F-352BC90F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05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513B1A-0EE8-4433-A676-04889551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482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records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A5AA19-AAFB-4C95-A68A-43F19455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48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页面访问、代码运行、错误类型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605658-14EA-40E9-A7B2-A22BE86B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391150"/>
            <a:ext cx="3009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A4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B2A4A"/>
                </a:solidFill>
                <a:latin typeface="PingFang SC"/>
                <a:ea typeface="PingFang SC"/>
                <a:cs typeface="PingFang SC"/>
              </a:rPr>
              <a:t>records 表是后续学习者建模、分层推荐和教学效果评价的数据入口。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6EE97B-DED1-4B59-B324-36C986F8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0EC461-0B98-4573-85CD-7A3B1A3E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基于大模型的中小学生智能编程学习平台设计与实现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18049B-2023-4167-B4FB-B391FFFC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639382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DE79CC-B0D9-4CDD-B837-D4B4678B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DC9D5-DB4A-47CC-B4E9-835A861A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D2E49-8E84-458B-A831-FC94AAC8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DAD8E-9901-426B-92BA-EF050BB2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7490"/>
                </a:solidFill>
                <a:latin typeface="PingFang SC"/>
                <a:ea typeface="PingFang SC"/>
                <a:cs typeface="PingFang SC"/>
              </a:rPr>
              <a:t>09 系统界面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39D60-E002-4097-8DD3-8E962D27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界面围绕学生学习路径与教师管理效率组织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29887-43C9-4D09-8A0F-CDF7C4F7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75542-48BF-4269-9A64-A3D896CC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4005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4eb8d2fe84e44"/>
          <a:stretch xmlns:a="http://schemas.openxmlformats.org/drawingml/2006/main"/>
        </p:blipFill>
        <p:spPr>
          <a:xfrm xmlns:a="http://schemas.openxmlformats.org/drawingml/2006/main">
            <a:off x="1680541" y="2114550"/>
            <a:ext cx="2449168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24292-BDE0-4F43-86BD-89895307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440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登录与角色路由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FD998-82EB-4A1F-8606-5762D854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38350"/>
            <a:ext cx="44005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950a8a8fc45bc"/>
          <a:stretch xmlns:a="http://schemas.openxmlformats.org/drawingml/2006/main"/>
        </p:blipFill>
        <p:spPr>
          <a:xfrm xmlns:a="http://schemas.openxmlformats.org/drawingml/2006/main">
            <a:off x="6577856" y="2114550"/>
            <a:ext cx="2446239" cy="13525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1E71B-8BD6-4DCB-88E1-8DFA399F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19500"/>
            <a:ext cx="440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学生资源页仪表板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8453A-6DF1-4560-88C8-250CC7A4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44005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ca03837c84f92"/>
          <a:stretch xmlns:a="http://schemas.openxmlformats.org/drawingml/2006/main"/>
        </p:blipFill>
        <p:spPr>
          <a:xfrm xmlns:a="http://schemas.openxmlformats.org/drawingml/2006/main">
            <a:off x="1673164" y="4076700"/>
            <a:ext cx="2463922" cy="13525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BB1FCF-8ABE-4316-B6A8-4C1E569E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440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教师资源页仪表板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D1DC6-FF89-4122-9357-4B820D66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00500"/>
            <a:ext cx="44005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344210d174f31"/>
          <a:stretch xmlns:a="http://schemas.openxmlformats.org/drawingml/2006/main"/>
        </p:blipFill>
        <p:spPr>
          <a:xfrm xmlns:a="http://schemas.openxmlformats.org/drawingml/2006/main">
            <a:off x="5826983" y="4076700"/>
            <a:ext cx="3947984" cy="13525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E3B45-DDD1-4CB9-B1DB-1721297A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581650"/>
            <a:ext cx="440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教师资源管理页面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016F2-8FDF-49D5-B48E-C0357015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B04132-2108-439D-97AE-E6025703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基于大模型的中小学生智能编程学习平台设计与实现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3C541F-1399-4B71-B4D7-6220CE72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246153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8F6032-4273-4FF7-9B16-C8F6FD27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7C6A0-E64B-4F0E-AD0E-8D91D625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F01ED-AF6D-4CA7-9B0A-31F2358F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5B60E-D128-41E8-9509-A5CF3CB9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7490"/>
                </a:solidFill>
                <a:latin typeface="PingFang SC"/>
                <a:ea typeface="PingFang SC"/>
                <a:cs typeface="PingFang SC"/>
              </a:rPr>
              <a:t>10 测试与验证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44923-E87C-4926-820A-4E714B54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测试围绕“登录—课程—代码—记录—反馈”学习回路展开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78074-0177-4BC6-B554-F5808633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A1A5B-51D9-4393-A708-FD5076A0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715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FE6AA-DEBE-4B65-A5F4-8F0B9BB0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功能测试结果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993B1-6BF5-4792-B854-7AE22E41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501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1122A-8C0C-4CF4-A5BA-DEBF427D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67025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编号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43D8D8-EF68-4AC8-9417-37306EF2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67025"/>
            <a:ext cx="74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模块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9DE7B-250A-4F97-BCDF-55FF62B7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67025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测试内容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97206-DA95-4CE7-99D4-3A9E1503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67025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AB70A0-278A-4C5D-A3BA-4CFE9292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T1-T3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07B1C-431C-42BC-95E1-6A4ED11E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0515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登录认证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1961DA-35B6-45F2-ABC4-1A3F0F0D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05150"/>
            <a:ext cx="2171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教师登录、错误课程码、未登录拦截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133440-ACC1-4D54-9AF3-0668C05D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0515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9F9BF-DEC0-4B62-B243-808F9C7B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2325"/>
            <a:ext cx="501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23101B-7FFF-4BAF-8455-83749DD2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909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T4-T6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E3BEEE-04F6-43BA-B638-D9C73742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909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在线编程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3DE195-ED69-4629-9E48-A9565A12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90900"/>
            <a:ext cx="2171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正确代码、危险导入、无限循环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5B4AEC-CA83-4E7F-B080-803B2A24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9090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4D8C4B-261B-466D-973F-2DE6A7BF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T7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A4F6E8-8C83-4BA0-855C-59AAA29D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7665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报错分析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190A33-96FB-446C-B77C-33473580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76650"/>
            <a:ext cx="2171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语法错误解释与定位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E150BB-D4AF-46B3-86E6-22230A20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7665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1EE627-FA3B-45EC-B96B-A77AF869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33825"/>
            <a:ext cx="501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43241F-963E-452E-93B3-64D0E8AC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624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T8-T9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07BEF6-2C44-419D-AD89-A7C5968F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624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消息互动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DB16F0-BA08-4155-B7E4-672506E2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62400"/>
            <a:ext cx="2171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发送消息、查询对话历史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021343-E3C2-4BD0-9458-BCAC7FDD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96240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5F541A-5F57-4848-B368-33F18207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T10-T12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B0B69E-A498-4E44-8DB5-12065FA3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4815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资源/课程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B9BF32-94EE-4D32-B013-4D068344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48150"/>
            <a:ext cx="2171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权限更新、权限查询、课程结构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11EAA1-7F4F-42F9-B5F3-DD1D9B88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4815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0AB8AF-2C89-4D53-BFE2-696220E2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1771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BE6C02-C040-497D-88A7-B2A8A28F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F5FCB7-A5CE-4C41-885E-AC416B82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288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12 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8518FE-3A0D-4A73-8BA7-0EBA64DA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908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功能用例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0ED0A9-21F0-4BDA-8DD0-380BDAF5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194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核心模块测试均通过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D9113D-FD65-4FBE-B58B-DF8A304C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76450"/>
            <a:ext cx="1771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2A6E78-F856-4CEA-877F-2ADF8CB4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764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1DF2DD-616A-4E14-8AA6-B5A15899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288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100ms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C7240F-867B-4184-B5AE-8F8FAE33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908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典型代码运行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0FE569-053E-4A74-A38D-96AFAFBA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194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Python 基础代码以内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4511BB-E3C0-4FC8-A21A-88EBCF6E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9950"/>
            <a:ext cx="1771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6F590E-D904-4665-B07E-CD87814F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99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1DB9A8-02F2-473B-A1C3-2F1B28D9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623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749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E7490"/>
                </a:solidFill>
                <a:latin typeface="PingFang SC"/>
                <a:ea typeface="PingFang SC"/>
                <a:cs typeface="PingFang SC"/>
              </a:rPr>
              <a:t>1-3s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DB6DC7-F8DC-4883-BBC8-BFAB7D54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243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模型响应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B4B0BF-DB6C-4786-A157-4F8C6D2B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529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采用流式响应改善等待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D1DA7C-9F96-4212-8CE6-EDCACD57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9950"/>
            <a:ext cx="1771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BAAFD50-3BD5-46F5-AA2D-52B0AFAA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99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D11F76C-FF6D-4276-AE26-C8BB2F23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623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12 个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C3D2A35-FBF2-4E0E-A43C-6C211F89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243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Uvicorn workers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4224D8-A446-4E11-88D2-6ECC9921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529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8 核 16G 生产环境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E3B018A-6111-484E-9F8B-85EEE63D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53000"/>
            <a:ext cx="3752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D1FBE23-61E5-46D1-BC01-F24AAF7A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143500"/>
            <a:ext cx="3257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测试结论：当前能证明系统功能可运行、流程可贯通；教学效果仍需后续课堂实验验证。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FC570AB-D8C0-491A-99BA-9EADF6AD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8F4DE4-EA7D-4A3E-9F7D-094A7E6F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基于大模型的中小学生智能编程学习平台设计与实现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33DB0EC-E01D-45C4-9667-8F8670E2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2052334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EB8207-9520-4B5B-BD75-CC32CA01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8B554-EDED-4116-96D6-710D2DC2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A08C8-C16B-482A-BA6B-50FB8B12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BECAB-0780-4E75-8E90-DDB129E9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49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7490"/>
                </a:solidFill>
                <a:latin typeface="PingFang SC"/>
                <a:ea typeface="PingFang SC"/>
                <a:cs typeface="PingFang SC"/>
              </a:rPr>
              <a:t>11 安全与可控性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9E1EA-E305-4472-81C7-B05AB21B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教育场景中的大模型能力必须可约束、可追踪、可干预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DCC13-C5DE-466E-BBEA-241494E6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D7C92-88C4-4417-8216-E1217157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838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25A65-890C-4334-9A69-D3B10A6A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838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86525-DB81-48CD-908F-D18E5162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认证安全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A82B2-5E5B-4001-9211-539E3421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93488-C853-411C-AC2A-339D1E0A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908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JWT 身份认证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000AC-4695-4CE0-8419-2C6C7D37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统一校验登录态与用户身份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52E87-E77E-4FB7-AD80-5FF37C81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AC7FD-5700-4899-BDA3-0585A25B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04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角色权限隔离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748E7F-08FD-4445-85B9-121FFBC5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290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学生无法调用教师专用接口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5EBC70-8CAC-446D-8999-4F874221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C863F3-0B17-496E-87E6-C292E435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00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HttpOnly Cookie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1266E3-24B9-4827-9E9E-93145D56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386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降低客户端脚本读取 Token 风险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1281EB-25BD-445D-B62A-498EDE84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33600"/>
            <a:ext cx="2838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C2C930-0A22-4C88-BFF4-6DB6E27A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33600"/>
            <a:ext cx="2838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274CD0-4F51-4A12-B852-CDC594A8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384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代码安全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8FCD66-1935-47E0-908E-A8063A50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1A06C3-F507-4C1B-B3E0-927B356D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908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危险导入拦截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20C6D3-9B6F-4071-BE25-9D12BAED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194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拦截 os、sys、subprocess 等模块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2EF145-BC66-42ED-A333-75E8C64A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F4A194-AD43-4CFB-A412-35E43CF7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004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无限循环检测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F9725D-EE4E-48E0-A82D-0D8DA892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290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通过迭代次数监控兜底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F5588F-73A0-4628-92E7-1FF4B070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8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9BF5C5-120E-4CF9-A33C-8D20453F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100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超时与系统调用限制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656E01-5C60-4D7C-8B38-E015F3A8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386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避免执行失控影响服务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DB3BBA-8326-4E05-8F51-1DE36FD5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33600"/>
            <a:ext cx="2838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84AF30-9AEE-4FC9-8C17-8E3B381C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33600"/>
            <a:ext cx="2838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C9E46A-48C2-43EE-8D15-62C6C602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384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教学安全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254217-FA65-4D59-A447-0D5404B6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B2A360-18FA-4016-9012-6F44F132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908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提示词边界约束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ED76F0-19BE-4AF2-8787-6E49E0DD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194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限定编程学习与适龄表达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BD794E-1C1C-4723-BC20-13F807EE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86773A-4472-4F70-B029-9205B580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004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输出结构化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B98081-4152-4F94-A998-1BC2810B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290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优先给思路、步骤和启发式提示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33643A-E5B3-44D6-B819-6BA32ED9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8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649076-6A2F-4908-8E47-2AD70521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100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日志与教师介入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1786AF-92C3-4832-A911-5DD7AE98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386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高风险或低置信回答可复核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19C6D3-60DB-424C-8984-E633BC59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95950"/>
            <a:ext cx="796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A4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B2A4A"/>
                </a:solidFill>
                <a:latin typeface="PingFang SC"/>
                <a:ea typeface="PingFang SC"/>
                <a:cs typeface="PingFang SC"/>
              </a:rPr>
              <a:t>能力越强，边界越要清楚。平台把模型放进教学流程，也同时保留规则、记录和人工复核。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C8F9E0-8D14-4FD6-BB4D-FA030ADD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BD4B8D-0D7A-4D61-AA04-DD024B9E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基于大模型的中小学生智能编程学习平台设计与实现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D651AB-C8C8-4131-8608-F8BC6302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3404357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F2233E-AC92-450E-BBF5-079BFD74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5F924-470D-405D-BAE5-C0C0E7BB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E0F65-B659-421B-AE42-DDB1F429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A5B82-4E60-405E-A264-9848D122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总结与展望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2C5D4-2B8A-4032-9CEA-C359BD51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5E27B-A948-41A0-AD4E-FF2EA204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4343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3645F-F81A-4535-81F2-A9A85403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383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已完成工作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6B7B7-9421-4134-9BA7-56024573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0CF73-BF89-4D73-8141-1DE65D28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479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完成智能编程学习平台设计与实现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8EEBF-258D-4C89-A6C8-2D69E672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765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覆盖学生学习与教师管理两个侧面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1A91D-46D9-4A3B-8B80-1A4E3C56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90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D162AB-83EA-4797-8B18-A64F58AE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将大模型能力嵌入具体学习环节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359AF-27D9-469A-91CF-1FC42C07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433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代码解释、报错解析、问题分解、建模与算法引导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66FE4-A84F-4644-9D46-A3403CCD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57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34B5AB-BB35-47E3-B2BE-4E8E3993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814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完成核心流程测试与安全验证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498D9-B349-47D7-8705-1ECF3339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100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登录、课程、代码、消息、资源和权限流程可贯通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0E032-3E58-4613-AB76-8CF31515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676400"/>
            <a:ext cx="4343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4FA7A5-5077-4AD7-B004-EE490F3D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383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后续方向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842249-0D3D-4064-B113-4E98B7AF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24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515DB3-6A7B-49AE-8646-679063D7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RAG 私域知识库增强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1A4D09-B818-4768-AD99-46790E31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减少泛化回答，提高课程相关性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BCCC75-57EF-4E50-A963-0AB6FE9A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90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F01BAA-1E6E-4FAA-BBCF-2D94ABDB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学习者建模与个性化推荐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F1485D-5001-4EEC-BD75-9A232A33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433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基于 records 表进一步分析学习过程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004CE2-3DDB-494D-9843-C31C8D20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57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75D3D1-5489-44B3-B2BE-E786BF14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814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E2E 测试、压力测试与课堂实验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ECCF54-C4E9-4800-A2F9-724715C6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区分系统可用性与教学有效性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ED1263-254B-466E-BF3C-B1EBBD29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33400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D4CB59-B567-4267-A14C-E9C65F91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864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谢谢各位老师，请批评指正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780173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2026-05-09T14:08:28.2920000Z</dcterms:created>
  <dcterms:modified xsi:type="dcterms:W3CDTF">2026-05-09T14:08:28.2920000Z</dcterms:modified>
</coreProperties>
</file>