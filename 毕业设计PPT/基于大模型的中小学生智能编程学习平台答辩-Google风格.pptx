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0a132195d34347" /><Relationship Type="http://schemas.openxmlformats.org/officeDocument/2006/relationships/extended-properties" Target="/docProps/app.xml" Id="Rfa27599fdd144f6e" /><Relationship Type="http://schemas.openxmlformats.org/officeDocument/2006/relationships/officeDocument" Target="/ppt/presentation.xml" Id="Rf15edce6bc2d480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31494cda248e3"/>
  </p:sldMasterIdLst>
  <p:notesMasterIdLst>
    <p:notesMasterId xmlns:r="http://schemas.openxmlformats.org/officeDocument/2006/relationships" r:id="R7fb96a09b6b543ba"/>
  </p:notesMasterIdLst>
  <p:sldIdLst>
    <p:sldId xmlns:r="http://schemas.openxmlformats.org/officeDocument/2006/relationships" id="256" r:id="Rd4b97b493bd44411"/>
    <p:sldId xmlns:r="http://schemas.openxmlformats.org/officeDocument/2006/relationships" id="257" r:id="Rcf32d33e31e94109"/>
    <p:sldId xmlns:r="http://schemas.openxmlformats.org/officeDocument/2006/relationships" id="258" r:id="R85b2ba9dbbbe4985"/>
    <p:sldId xmlns:r="http://schemas.openxmlformats.org/officeDocument/2006/relationships" id="259" r:id="R1dff14de772b461f"/>
    <p:sldId xmlns:r="http://schemas.openxmlformats.org/officeDocument/2006/relationships" id="260" r:id="Ra003a57db71e4a39"/>
    <p:sldId xmlns:r="http://schemas.openxmlformats.org/officeDocument/2006/relationships" id="261" r:id="R00598bb0503d4bb9"/>
    <p:sldId xmlns:r="http://schemas.openxmlformats.org/officeDocument/2006/relationships" id="262" r:id="R03a6b2b4af374663"/>
    <p:sldId xmlns:r="http://schemas.openxmlformats.org/officeDocument/2006/relationships" id="263" r:id="Rd2346e1389724f78"/>
    <p:sldId xmlns:r="http://schemas.openxmlformats.org/officeDocument/2006/relationships" id="264" r:id="R4b6dbc1a924b44e8"/>
    <p:sldId xmlns:r="http://schemas.openxmlformats.org/officeDocument/2006/relationships" id="265" r:id="R5a9eb46c5ad24c31"/>
    <p:sldId xmlns:r="http://schemas.openxmlformats.org/officeDocument/2006/relationships" id="266" r:id="Rfbb69336b4ed4d6e"/>
    <p:sldId xmlns:r="http://schemas.openxmlformats.org/officeDocument/2006/relationships" id="267" r:id="Rf2a05744551442db"/>
    <p:sldId xmlns:r="http://schemas.openxmlformats.org/officeDocument/2006/relationships" id="268" r:id="R7671afd03d354f9e"/>
    <p:sldId xmlns:r="http://schemas.openxmlformats.org/officeDocument/2006/relationships" id="269" r:id="Rf845d38685584665"/>
    <p:sldId xmlns:r="http://schemas.openxmlformats.org/officeDocument/2006/relationships" id="270" r:id="R68ec5428f45f460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31494cda248e3" /><Relationship Type="http://schemas.openxmlformats.org/officeDocument/2006/relationships/theme" Target="/ppt/theme/theme1.xml" Id="Rbb52a72d6b21461f" /><Relationship Type="http://schemas.openxmlformats.org/officeDocument/2006/relationships/notesMaster" Target="/ppt/notesMasters/notesMaster1.xml" Id="R7fb96a09b6b543ba" /><Relationship Type="http://schemas.openxmlformats.org/officeDocument/2006/relationships/presProps" Target="/ppt/presProps.xml" Id="Rb1a5bb01baf34237" /><Relationship Type="http://schemas.openxmlformats.org/officeDocument/2006/relationships/viewProps" Target="/ppt/viewProps.xml" Id="R716a07365ec84925" /><Relationship Type="http://schemas.openxmlformats.org/officeDocument/2006/relationships/tableStyles" Target="/ppt/tableStyles.xml" Id="Rb1078a7533724744" /><Relationship Type="http://schemas.openxmlformats.org/officeDocument/2006/relationships/slide" Target="/ppt/slides/slide1.xml" Id="Rd4b97b493bd44411" /><Relationship Type="http://schemas.openxmlformats.org/officeDocument/2006/relationships/slide" Target="/ppt/slides/slide2.xml" Id="Rcf32d33e31e94109" /><Relationship Type="http://schemas.openxmlformats.org/officeDocument/2006/relationships/slide" Target="/ppt/slides/slide3.xml" Id="R85b2ba9dbbbe4985" /><Relationship Type="http://schemas.openxmlformats.org/officeDocument/2006/relationships/slide" Target="/ppt/slides/slide4.xml" Id="R1dff14de772b461f" /><Relationship Type="http://schemas.openxmlformats.org/officeDocument/2006/relationships/slide" Target="/ppt/slides/slide5.xml" Id="Ra003a57db71e4a39" /><Relationship Type="http://schemas.openxmlformats.org/officeDocument/2006/relationships/slide" Target="/ppt/slides/slide6.xml" Id="R00598bb0503d4bb9" /><Relationship Type="http://schemas.openxmlformats.org/officeDocument/2006/relationships/slide" Target="/ppt/slides/slide7.xml" Id="R03a6b2b4af374663" /><Relationship Type="http://schemas.openxmlformats.org/officeDocument/2006/relationships/slide" Target="/ppt/slides/slide8.xml" Id="Rd2346e1389724f78" /><Relationship Type="http://schemas.openxmlformats.org/officeDocument/2006/relationships/slide" Target="/ppt/slides/slide9.xml" Id="R4b6dbc1a924b44e8" /><Relationship Type="http://schemas.openxmlformats.org/officeDocument/2006/relationships/slide" Target="/ppt/slides/slide10.xml" Id="R5a9eb46c5ad24c31" /><Relationship Type="http://schemas.openxmlformats.org/officeDocument/2006/relationships/slide" Target="/ppt/slides/slide11.xml" Id="Rfbb69336b4ed4d6e" /><Relationship Type="http://schemas.openxmlformats.org/officeDocument/2006/relationships/slide" Target="/ppt/slides/slide12.xml" Id="Rf2a05744551442db" /><Relationship Type="http://schemas.openxmlformats.org/officeDocument/2006/relationships/slide" Target="/ppt/slides/slide13.xml" Id="R7671afd03d354f9e" /><Relationship Type="http://schemas.openxmlformats.org/officeDocument/2006/relationships/slide" Target="/ppt/slides/slide14.xml" Id="Rf845d38685584665" /><Relationship Type="http://schemas.openxmlformats.org/officeDocument/2006/relationships/slide" Target="/ppt/slides/slide15.xml" Id="R68ec5428f45f46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5a35f350152466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93acf4352844b3" /><Relationship Type="http://schemas.openxmlformats.org/officeDocument/2006/relationships/notesMaster" Target="/ppt/notesMasters/notesMaster1.xml" Id="R6dc7725cb97d4e8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5993e8aae8e4a3b" /><Relationship Type="http://schemas.openxmlformats.org/officeDocument/2006/relationships/notesMaster" Target="/ppt/notesMasters/notesMaster1.xml" Id="Rf209b44c748a4f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299fba99964e29" /><Relationship Type="http://schemas.openxmlformats.org/officeDocument/2006/relationships/notesMaster" Target="/ppt/notesMasters/notesMaster1.xml" Id="Rbb92ec8827df4a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e632be08b44f8f" /><Relationship Type="http://schemas.openxmlformats.org/officeDocument/2006/relationships/notesMaster" Target="/ppt/notesMasters/notesMaster1.xml" Id="Rc7ee7aa12f35436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e6ca1e2ba9e466d" /><Relationship Type="http://schemas.openxmlformats.org/officeDocument/2006/relationships/notesMaster" Target="/ppt/notesMasters/notesMaster1.xml" Id="Rf6d9e0079d2d493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6423a87963465f" /><Relationship Type="http://schemas.openxmlformats.org/officeDocument/2006/relationships/notesMaster" Target="/ppt/notesMasters/notesMaster1.xml" Id="R7a501ae07aa4418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e5b9a69b9d4f19" /><Relationship Type="http://schemas.openxmlformats.org/officeDocument/2006/relationships/notesMaster" Target="/ppt/notesMasters/notesMaster1.xml" Id="Rbf7def85e30144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5314d3ff704150" /><Relationship Type="http://schemas.openxmlformats.org/officeDocument/2006/relationships/notesMaster" Target="/ppt/notesMasters/notesMaster1.xml" Id="Rfcf0732482d646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e47fd8a3cb94456" /><Relationship Type="http://schemas.openxmlformats.org/officeDocument/2006/relationships/notesMaster" Target="/ppt/notesMasters/notesMaster1.xml" Id="R78e3568d398f41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a21b273b3c4632" /><Relationship Type="http://schemas.openxmlformats.org/officeDocument/2006/relationships/notesMaster" Target="/ppt/notesMasters/notesMaster1.xml" Id="Rc486b573abf54d1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6e318a41d554a94" /><Relationship Type="http://schemas.openxmlformats.org/officeDocument/2006/relationships/notesMaster" Target="/ppt/notesMasters/notesMaster1.xml" Id="R8ed9cf5931c641e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3adbe33c5f14558" /><Relationship Type="http://schemas.openxmlformats.org/officeDocument/2006/relationships/notesMaster" Target="/ppt/notesMasters/notesMaster1.xml" Id="R5df3f4a22dc14a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0e355ad10784f4a" /><Relationship Type="http://schemas.openxmlformats.org/officeDocument/2006/relationships/notesMaster" Target="/ppt/notesMasters/notesMaster1.xml" Id="R90219d0d3dd84b0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b4f850c5a64354" /><Relationship Type="http://schemas.openxmlformats.org/officeDocument/2006/relationships/notesMaster" Target="/ppt/notesMasters/notesMaster1.xml" Id="R0de524bcc0fb41c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68d9852c4cf43b6" /><Relationship Type="http://schemas.openxmlformats.org/officeDocument/2006/relationships/notesMaster" Target="/ppt/notesMasters/notesMaster1.xml" Id="R0f0c1ed591344c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开场介绍课题定位：本平台面向中小学生编程学习，把课程、练习、模型反馈、教师干预和行为记录串成闭环。强调这不是单独的聊天窗口，而是教学流程中的辅助系统。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解释研究背景。编程教育中的困难是连续发生的：看不懂错误、不会拆任务、教师跟进不及时、过程数据不可见。因此需要平台化支持。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本页给出研究主张：学生仍然动手，教师仍然主导，平台承担组织和记录，大模型在卡点位置提供支架。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讲学习闭环：教师配置，学生练习，模型辅助，系统留痕，教师干预。这样可以说明系统不是功能堆叠，而是围绕教学流程设计。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讲总体架构。前端负责页面和交互，后端负责业务接口和认证，数据层负责持久化和缓存，智能服务通过受控接口接入。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功能模块页重点讲两个流程：学生怎么学，教师怎么管。避免逐一念模块名称，而是说明模块如何围绕学习闭环协作。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学生端展示的是学习工作台：进度、错误、资源和留言集中在一个页面，目标是减少学生在多个入口之间来回切换。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教师端展示管理属性：全班进度、错误分布、学生记录、资源维护和消息回复。强调教师端不是简单复刻学生端，而是支持教学组织和干预。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核心实现之一是在线编程。通过 Web Worker 加载 Pyodide 和 WebAssembly，在浏览器沙箱执行 Python，主线程通过 postMessage 接收输出和错误。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讲智能辅学模块。系统不是把所有问题都交给通用问答，而是识别场景，匹配不同模板。输出强调适龄、分步、启发式，避免直接给完整答案。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讲数据模型。除了用户、课程、任务和资源，重点强调 records 表，记录页面访问、代码运行和错误类型，为教师观察和后续分析提供基础。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测试页说明功能测试、性能表现和结论边界。核心流程已经跑通，但不能把系统可用性直接等同于教学效果。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安全页从三层说明：认证安全、代码安全、教学安全。尤其强调大模型进入中小学教学场景时，必须可约束、可追踪、可干预。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路线图页说明不足与展望：E2E 测试、知识库增强、学习者建模、课堂实验。主动区分系统可用性和教学有效性。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最后总结：系统完成了工程实现，核心流程可运行，智能辅学嵌入学习过程。结论保持克制，教学效果需要后续课堂实验。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b9b2364b2246d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fc0aa656540424d" /><Relationship Type="http://schemas.openxmlformats.org/officeDocument/2006/relationships/slideLayout" Target="/ppt/slideLayouts/slideLayout2.xml" Id="Rcff3a35d4a4e47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ff3a35d4a4e47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143a7a6a1f44a2" /><Relationship Type="http://schemas.openxmlformats.org/officeDocument/2006/relationships/notesSlide" Target="/ppt/notesSlides/notesSlide1.xml" Id="Rb3017fb9a6c04b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dd7d398cc6e41b3" /><Relationship Type="http://schemas.openxmlformats.org/officeDocument/2006/relationships/notesSlide" Target="/ppt/notesSlides/notesSlide2.xml" Id="R74e58f77e5d74a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5732da63d4d4481" /><Relationship Type="http://schemas.openxmlformats.org/officeDocument/2006/relationships/notesSlide" Target="/ppt/notesSlides/notesSlide3.xml" Id="Rfb489a5afcf8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3ccab5d5f954c3e" /><Relationship Type="http://schemas.openxmlformats.org/officeDocument/2006/relationships/notesSlide" Target="/ppt/notesSlides/notesSlide4.xml" Id="R18aebdab77134f7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9720f669f4493c" /><Relationship Type="http://schemas.openxmlformats.org/officeDocument/2006/relationships/image" Target="/ppt/media/image.png" Id="Rf8ce13fe10a94c4e" /><Relationship Type="http://schemas.openxmlformats.org/officeDocument/2006/relationships/notesSlide" Target="/ppt/notesSlides/notesSlide5.xml" Id="Rf57825e5e592463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527cd0f3dc478c" /><Relationship Type="http://schemas.openxmlformats.org/officeDocument/2006/relationships/image" Target="/ppt/media/image2.png" Id="R3096cbeb63134e22" /><Relationship Type="http://schemas.openxmlformats.org/officeDocument/2006/relationships/notesSlide" Target="/ppt/notesSlides/notesSlide6.xml" Id="R7c07ec4ca54e45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05e516995ac4cda" /><Relationship Type="http://schemas.openxmlformats.org/officeDocument/2006/relationships/image" Target="/ppt/media/image3.png" Id="R133d6d1c03f44122" /><Relationship Type="http://schemas.openxmlformats.org/officeDocument/2006/relationships/notesSlide" Target="/ppt/notesSlides/notesSlide7.xml" Id="Rca61b626cb5f46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2b1389e8854ae6" /><Relationship Type="http://schemas.openxmlformats.org/officeDocument/2006/relationships/image" Target="/ppt/media/image4.png" Id="R955f86449425450c" /><Relationship Type="http://schemas.openxmlformats.org/officeDocument/2006/relationships/image" Target="/ppt/media/image5.png" Id="R1dc76d872a644bc6" /><Relationship Type="http://schemas.openxmlformats.org/officeDocument/2006/relationships/notesSlide" Target="/ppt/notesSlides/notesSlide8.xml" Id="R9c04016563f94f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ba69649845b4323" /><Relationship Type="http://schemas.openxmlformats.org/officeDocument/2006/relationships/image" Target="/ppt/media/image6.png" Id="Rc9382c830f4e4777" /><Relationship Type="http://schemas.openxmlformats.org/officeDocument/2006/relationships/image" Target="/ppt/media/image7.png" Id="R6d659bb3b9464614" /><Relationship Type="http://schemas.openxmlformats.org/officeDocument/2006/relationships/notesSlide" Target="/ppt/notesSlides/notesSlide9.xml" Id="R716d3fa66c194d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5e0d268310464e" /><Relationship Type="http://schemas.openxmlformats.org/officeDocument/2006/relationships/image" Target="/ppt/media/image8.png" Id="R9941dc03c0824be2" /><Relationship Type="http://schemas.openxmlformats.org/officeDocument/2006/relationships/notesSlide" Target="/ppt/notesSlides/notesSlide10.xml" Id="R12e6020f9c4446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f248e09c9f42f9" /><Relationship Type="http://schemas.openxmlformats.org/officeDocument/2006/relationships/image" Target="/ppt/media/image9.png" Id="R8d8a6f5160a242d5" /><Relationship Type="http://schemas.openxmlformats.org/officeDocument/2006/relationships/notesSlide" Target="/ppt/notesSlides/notesSlide11.xml" Id="R958081e29ee040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3010b8e9454033" /><Relationship Type="http://schemas.openxmlformats.org/officeDocument/2006/relationships/notesSlide" Target="/ppt/notesSlides/notesSlide12.xml" Id="Rd778bceb49eb4e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c41ef7dc1d24989" /><Relationship Type="http://schemas.openxmlformats.org/officeDocument/2006/relationships/notesSlide" Target="/ppt/notesSlides/notesSlide13.xml" Id="R5fd798b705dd40b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0e146b3e0c64ebb" /><Relationship Type="http://schemas.openxmlformats.org/officeDocument/2006/relationships/notesSlide" Target="/ppt/notesSlides/notesSlide14.xml" Id="Rf19a686ca4c549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5494e1fd2b4b36" /><Relationship Type="http://schemas.openxmlformats.org/officeDocument/2006/relationships/notesSlide" Target="/ppt/notesSlides/notesSlide15.xml" Id="R92f1a4f456e144e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797E3-1B31-4D5A-ADF7-2D36309F6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DF3D02-F396-4085-92B1-2BCB55DE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C0A4A2-21B5-40C1-9C5D-69A75347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5D2FA7-205C-4733-AE24-AB0908AB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872F3B-62A2-4CBA-B398-0F792505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26E29B-128E-4C7A-ADE3-B7C01365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B81B82-4C47-4E21-8AD6-905164963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6ACA9-9F4A-43CA-BDB4-DC84BAFC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67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F3539-70E4-4AE1-90D2-910BFB56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19200"/>
            <a:ext cx="7239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31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基于大模型的</a:t>
            </a:r>
          </a:p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31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中小学生智能编程学习平台</a:t>
            </a:r>
          </a:p>
          <a:p xmlns:a="http://schemas.openxmlformats.org/drawingml/2006/main">
            <a:pPr algn="l">
              <a:defRPr sz="31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31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设计与实现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ED1980-31D9-470C-8D99-E5068B17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24200"/>
            <a:ext cx="6953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把课程学习、在线编程、智能辅学、教师干预与过程记录串成一个可运行的学习闭环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81383-E5F4-4B99-A368-54C5D5170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862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271CBB-62CB-486F-81AD-E5AD179EC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Nuxt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011E31-291D-4D68-AFF1-E841C7A16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886200"/>
            <a:ext cx="11049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755ED0-4039-4416-8BE3-007B6D7A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962400"/>
            <a:ext cx="11049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4FD4D-EA53-46D8-9CE9-3F2F4BAA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86200"/>
            <a:ext cx="1200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D40037-8C44-4008-ABE5-B2E4127BD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962400"/>
            <a:ext cx="12001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Pyodide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218BC3-3587-4D02-9D21-3DC87967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862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9F24B-CCB0-4072-B4CA-FC1C2F81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962400"/>
            <a:ext cx="1428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LLM Tutor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090AD3-A9C3-4780-B7CC-BB03B04D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257300"/>
            <a:ext cx="2762250" cy="35814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38C582-D200-4840-8D79-3FB757BE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00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216C9C-DB75-4104-A11C-D9F921E5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562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作者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2E9030-20FF-4817-A21E-B9D8404D5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7716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林柏伟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22C5D9-AF9F-4CC6-B8BA-E6F486EB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87ABC3-B824-4578-A9DB-9786A2A66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1526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专业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23E95CC-E446-4505-BADA-2D21E41C6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计算机科学与技术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36226A-17C0-4A6E-96D6-7FEC3C6D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813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1DF696-6D40-4BC4-ABE6-05C880D4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7432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指导教师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C535B7-6B8D-47A1-8C5D-9DBB8D0D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9527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匡振中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C08F199-41A2-4642-8A23-5CF05032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19B02B-FB57-4BCA-841C-CC3144123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33375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学校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372907E-412E-4860-A08D-6B7FABE8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4330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杭州电子科技大学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4C9850-0524-4BB0-A82E-1A271124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62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754405-B7FB-4D2D-B24F-ACE78748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9243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日期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1FA881-CD03-472D-975E-ABC4D7F3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1338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2026 年 5 月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9215DB-89D2-44FF-88BF-A92E48E44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57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25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Google / Material 风格重制版</a:t>
            </a:r>
          </a:p>
        </p:txBody>
      </p:sp>
    </p:spTree>
    <p:extLst>
      <p:ext uri="{BB962C8B-B14F-4D97-AF65-F5344CB8AC3E}">
        <p14:creationId xmlns:p14="http://schemas.microsoft.com/office/powerpoint/2010/main" val="76308946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0C93C1-AD32-4D04-AC39-322C1D33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298257-A9F8-446B-86A1-5FA99CB9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838240-6259-4F71-AEE8-6F50810DD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1B17DC-D8D5-4737-B9F6-CE753BE6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F60F93-884F-4B0C-95C1-4EB4FDAB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F8B298-C4CA-4627-A5DB-9A224073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EA6CC-D8BE-4F76-9F98-8A4A28551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A94186-60BC-4A4C-9DD8-C6BFE1179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01 /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63C5BF-E522-49AC-8127-77ACC4E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编程初学者卡住时，真正缺的是连续、可理解、可追踪的反馈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B61DCE-5921-4EE6-9B23-6427FCB8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B19383-F8A8-4BBF-A836-EBF75704D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DB2E0E-4BEC-4C16-AD3D-CC1ED8AC3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89560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6643B-6A15-4301-9458-FF4A7B967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报错难理解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1F0453-7E4E-44EA-9666-AE9524C6B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290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原始报错面向程序员，不面向中小学生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2F7649-4DE8-414F-950C-3DF7625C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76525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F1959B-9B6D-4713-B308-6E6AB43F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28900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2CEE29-673F-4B74-8E5A-46CA389A8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89560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1EF357-8E65-4810-B52C-35100D41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9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任务难拆解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83C600-4D6E-4222-9511-A5FFB1F6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290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综合题需要先拆输入、处理、判断、循环、输出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B02994-B7EE-4818-B45B-4DED4B8D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76525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5800FC-8427-4D4A-A127-E8286E93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628900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33CE5C-F9C9-4E7F-9AD1-928E26A3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9560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BBC04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FBBC04"/>
                </a:solidFill>
                <a:latin typeface="Google Sans"/>
                <a:ea typeface="Google Sans"/>
                <a:cs typeface="Google Sans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DB8879-4121-4EED-8ACA-818824DBA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409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教师难逐一跟进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50E54-773E-410E-8D0F-14632AB4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290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课堂时间有限，无法持续盯住每个卡点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9EDCD7-68FA-43C6-BA28-ACFE286F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76525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9462B-2C86-4505-A5A2-34F601B5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628900"/>
            <a:ext cx="21717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48EC6D-FB23-447B-A982-F6CCC5040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895600"/>
            <a:ext cx="5334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5953DC-9124-4282-B638-11EBEFD7C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0995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过程不可见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91DBC05-C030-4E03-A3B6-65F097D7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829050"/>
            <a:ext cx="1619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75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只看最终提交，难以识别高频错误和学习路径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89742A-A084-44A2-9F2A-E08705BE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334000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问题总结：平台不能只提供“能运行代码”的能力，还要补上反馈、解释、记录和教师介入通道。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13E097-EA4D-416A-80EB-83BB8C0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B512B2-92F8-4A30-A5AA-8396C601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33565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5634AE0-BA70-42E6-9CB0-CF61F660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BA61B-60ED-48C0-8CF5-EE21AB69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2C82F-E79B-42A2-B9D9-3C089DB14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ECFC6C-E70F-4697-BE11-62D24BF74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10D35-7281-43BA-A224-4A6BEABBB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D053C-306F-41A6-8B1F-52908210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0BD4B9-3B65-450F-B4F4-162FAECC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1EF6E8-E3C5-4560-9628-FC96F45A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02 / THESIS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6C23D-A8D4-4D96-962C-54DC5EEC3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设计目标：让大模型成为学习支架，而不是答案出口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DFED0B-F595-4224-99A5-5B4D20E1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003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D2000-2A26-4417-932C-542D1C20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086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学生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FBC3C-A2F3-4C8D-BA5A-BD07FA7D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623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写代码、看反馈、继续尝试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4F64EE-8748-4804-BE18-440957D6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05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4F9316-126A-4764-9AD9-5E3B7708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438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6BD146-ACA6-44D6-B02A-49469CBA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003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F737F0-F02C-4963-9269-70E83F418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86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平台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E34EF-1CD4-4B13-AD07-2BEFBEB2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623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组织课程、运行代码、记录过程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9FC85D-E22F-45DB-BFA2-0DEAFDC5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505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B1C65A-21FA-4EB3-AD6E-A25405D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438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12177F-F3C9-451F-8224-AA0521E95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8003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3CC875-C32C-4796-9675-3AD396755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86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BBC04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FBBC04"/>
                </a:solidFill>
                <a:latin typeface="Google Sans"/>
                <a:ea typeface="Google Sans"/>
                <a:cs typeface="Google Sans"/>
              </a:rPr>
              <a:t>大模型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1ED909-4305-4FB3-B514-B3C08E07F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解释错误、拆解问题、引导思路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5DDB3E-733E-4E57-877F-917A2FB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361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D525D0-7B3A-4FEA-BC08-BFCED48A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4385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9537D-738A-4046-8AB9-E537929E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00350"/>
            <a:ext cx="2057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01774A-7D40-49E0-A7C0-E02621F8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86100"/>
            <a:ext cx="114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教师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355D6E-41B8-4890-A3F2-F70069FFD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62350"/>
            <a:ext cx="152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01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观察数据、补充资源、必要干预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41567A-3886-4D74-AAE3-5ADE334C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3395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核心边界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A572FB-EF72-4D0B-B327-A739E0BEB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33950"/>
            <a:ext cx="771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7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模型回答必须服务于课程目标、学生认知水平和教师可控性；系统价值不在“替学生完成”，而在“帮助学生继续推进”。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4718F4-FF5D-4418-B90A-2BEB7A8F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C57B1-56C7-4F38-9D72-271A881E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545787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B9028A-0ACE-47BE-8E52-DC701769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6B1AD0-FC9B-489E-9233-E88FD5DC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5E5E3F-3DAC-4551-B277-4267335AA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2219F0-8ECB-4440-9BE6-415681BA7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5812AF-19E7-4AF0-9557-8DE8D761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6424E-097D-460E-8C19-5767FC422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FFF60-E319-4A0C-AF96-2B2AC0FF0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89DA14-EB10-4FE8-8F69-4660DEFB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03 / LEARNING LOOP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9D45D9-7AFC-4D1A-A5A7-33666F328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平台围绕一条完整学习回路组织，而不是堆功能菜单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52AEE0-47F6-43D1-98D8-24D44017A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1581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9EFFD-920B-486B-A02A-EF3B202E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B8117-6052-4849-BC57-83229BEC9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76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课前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5E5A0-68FF-4501-98C0-CDB9024CF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38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教师配置课程、知识点与资源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763886-6A03-416A-B220-33C5F92F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390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2E0734-9BF6-4FA6-BE81-2F7866C1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324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409B80-9956-4CDA-8739-D1A8270A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81300"/>
            <a:ext cx="1581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43A09-71AB-45DF-898E-F6069BC7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26177-D291-4E47-8EB3-6A7160D86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76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课中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846B6-3D85-427F-AD0D-480083FD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638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学生编写代码并运行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198B1-3A94-4A88-83DA-2531F5747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90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324277-5C53-4578-B24E-4B43FC5A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324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A8AB7F-8202-401B-BE25-137159BE2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81300"/>
            <a:ext cx="1581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B37B06-6D09-405E-8880-5F0D17B4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EAF3EE-7B34-4C80-9FA9-1BAB486F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76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BBC04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FBBC04"/>
                </a:solidFill>
                <a:latin typeface="Google Sans"/>
                <a:ea typeface="Google Sans"/>
                <a:cs typeface="Google Sans"/>
              </a:rPr>
              <a:t>卡点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2AA828-961E-4ED0-A374-4E2F3DA0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模型解释报错、拆解问题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A6CF49-A9D9-441D-AE95-8C3E7A86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90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4D510-F137-42EB-819F-398E4506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324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29C9D38-ECF6-43BD-B44B-C1419493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81300"/>
            <a:ext cx="1581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52C4E1-EFE8-44B4-831C-2A92CE83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CE9395-EA7A-4BFD-9402-4997E268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76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留痕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B06616B-8F0C-47EB-A5A1-EAA374E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638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记录代码、错误类型和互动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846478-0E7D-479C-9A6D-B6FBB034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3909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D14F5-E793-446F-AF56-5163E396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3242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13A2A8F-2648-462B-8A64-E0F4576F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781300"/>
            <a:ext cx="15811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6F241C-896A-451F-9936-5D24ACCF9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0289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5BFF072-7FAC-4AAE-B61E-790BDE408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276600"/>
            <a:ext cx="1047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干预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41E9C6-251B-439F-880C-51B07C19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638550"/>
            <a:ext cx="1104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教师查看记录并补充反馈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F53360E-AE9C-40A5-A1C4-591AB3179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8387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闭环意义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34C874-81B4-4F76-B784-BF962333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38700"/>
            <a:ext cx="7143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每一次运行、报错、提问和资源访问，都能回到教师视角，成为后续教学干预的依据。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2D00A9-44E0-49C4-9102-FCF87CB7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D43143F-858E-4053-88BA-E5F5B0D6C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032854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50EF4-D7D8-43F4-A279-C0B99A458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1528E-C3AB-4A5B-92DA-080F3BFA3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C84A34-77E4-401E-8537-D8FABF7DA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9AE43-4CF9-407A-81AF-50A1683CF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30E93B-0F95-4DB6-9EAE-1BA3F725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A22D2E-C755-4AD4-BC05-E3FF4311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B941BD-D569-4BAA-BA20-61F22106F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06D7DE-8971-49C7-AA31-7A40BB2D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04 / ARCHITECTURE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E8C56-0441-4969-B530-B47B52908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前后端分离承载业务流程，模型服务与代码执行分别受控接入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9198F0-BDB1-4F89-9029-DF78E63CF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14575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0EDF05-1EDE-47D0-8F50-076C659B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66950"/>
            <a:ext cx="6572250" cy="3505200"/>
          </a:xfrm>
          <a:prstGeom xmlns:a="http://schemas.openxmlformats.org/drawingml/2006/main" prst="roundRect">
            <a:avLst>
              <a:gd name="adj" fmla="val 2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ce13fe10a94c4e"/>
          <a:stretch xmlns:a="http://schemas.openxmlformats.org/drawingml/2006/main"/>
        </p:blipFill>
        <p:spPr>
          <a:xfrm xmlns:a="http://schemas.openxmlformats.org/drawingml/2006/main">
            <a:off x="2798301" y="2381250"/>
            <a:ext cx="2385347" cy="32766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2AD479-DC3E-4D80-A381-AE729138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314575"/>
            <a:ext cx="2857500" cy="3505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DC50DF-E779-47C8-A1D8-BC737CDC0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66950"/>
            <a:ext cx="2857500" cy="3505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8070B1-103F-4072-8137-CBEBE015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717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技术分层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A6359F-DCA0-4D1C-B6BB-E83B1E52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B52743-793D-4E92-BD4F-6BDD49F3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62300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前端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A09E8E-BFE5-4D67-83A7-5C30805C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5277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Nuxt 3 / Vue 3 / TypeScript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911E6-9786-4F4E-8A08-426D7F1B0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19500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0CD385-C626-4B11-AB92-0D0C7308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95700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后端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7B2393-24D2-493A-9A43-12D31F02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8617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FastAPI / SQLAlchemy / JWT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5C28B4-19F8-457C-8EF6-85BB7052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152900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653084-1BF5-46E8-B612-A9BC43525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29100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数据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B1B656-8147-4C9F-8269-578B889A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21957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SQL Server / Redis / OSS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C3C019-D449-4CC8-A624-4EA351B4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86300"/>
            <a:ext cx="7048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6071C1-E377-4A31-B5BC-96B7B548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762500"/>
            <a:ext cx="704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智能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789B3A-DF24-4110-ADF5-FF55F7F3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52975"/>
            <a:ext cx="1314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DashScope / OpenAI / GLM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907CB5-751D-405D-A574-E7DF57D3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FB6171-001E-408E-A378-266F50B72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9168428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3956B3-4C0E-4E82-A822-814811F98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89BC2A-A41E-4EBD-8732-16D18A732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1303FF-DE21-4700-9CC5-B206C4B8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D36110-C67F-41DA-A8B7-791090E9B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2D7EE5-81D9-4E44-AC37-EAE9884C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883FE0-BDFE-4E0B-AC19-992B6442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B8AE93-333B-480B-A7E4-0D507AC4C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420AE-A341-4614-93BB-05A3BC7B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B5C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2B5CB"/>
                </a:solidFill>
                <a:latin typeface="Google Sans"/>
                <a:ea typeface="Google Sans"/>
                <a:cs typeface="Google Sans"/>
              </a:rPr>
              <a:t>05 / MODULES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AA8FC-E620-4709-86DB-BC153ABCC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模块设计围绕学生学习流与教师管理流展开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3924F9-848B-43A6-AE3D-C6A4A08D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57425"/>
            <a:ext cx="67056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D2AAE-FB17-4C86-9956-F66AFF47E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09800"/>
            <a:ext cx="670560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96cbeb63134e22"/>
          <a:stretch xmlns:a="http://schemas.openxmlformats.org/drawingml/2006/main"/>
        </p:blipFill>
        <p:spPr>
          <a:xfrm xmlns:a="http://schemas.openxmlformats.org/drawingml/2006/main">
            <a:off x="1579955" y="2324100"/>
            <a:ext cx="4841089" cy="33337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84876-002F-41F9-9FA6-50A18C1EB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257425"/>
            <a:ext cx="2876550" cy="35623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D1251-E1F4-4F7C-9873-0C9125A8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09800"/>
            <a:ext cx="2876550" cy="35623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2F91A-52D9-4255-B234-FFA25CF0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5527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两个主流程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182D4-0406-42AD-AE17-39867E3E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学生侧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52A204-3842-411D-AC8A-29484DB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290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课程学习 → 在线编程 → 智能反馈 → 查看记录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A4EB77-E9B4-42BB-941D-1F55DF8D0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6720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教师侧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A3E262-9070-4357-8417-CDD18D09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资源维护 → 进度观察 → 消息互动 → 必要干预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CC2103-AA8D-449A-846A-C781436D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4CDE46-C29E-429D-B6C2-03234FEFD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9781905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28F952-7403-4C76-B208-8513D0F5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1C5B77-793F-495D-BB01-758035A73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696F6A-146E-4DE6-A255-72A95FD9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A7ADC-5279-4A5A-99A0-980ADAA35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F17073-7B40-4D45-8961-F9148FA90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ECC7D-C8F7-4BB5-9C09-8EEEBBF14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0FB54-4713-4AC0-BD3B-7F87C495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83D54E-A9BA-4D41-B740-D120D611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06 / PRODUCT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FA74B0-DB14-49D5-AE26-76665AE8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学生端把学习进度、错误反馈、资源推荐与消息互动放在同一工作台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8FC708-6252-4547-82C1-5C27AE6C8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6572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27AD68-C804-4FFA-B1AB-809F6FB17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6572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d6d1c03f44122"/>
          <a:stretch xmlns:a="http://schemas.openxmlformats.org/drawingml/2006/main"/>
        </p:blipFill>
        <p:spPr>
          <a:xfrm xmlns:a="http://schemas.openxmlformats.org/drawingml/2006/main">
            <a:off x="838428" y="2305050"/>
            <a:ext cx="6305094" cy="3486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D6853B-C876-4551-B03D-1EBAEBD30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38375"/>
            <a:ext cx="2914650" cy="37147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8C3C20-C1C2-419C-ABC4-DA9B3CD01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190750"/>
            <a:ext cx="2914650" cy="3714750"/>
          </a:xfrm>
          <a:prstGeom xmlns:a="http://schemas.openxmlformats.org/drawingml/2006/main" prst="roundRect">
            <a:avLst>
              <a:gd name="adj" fmla="val 2614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3B5754-94C4-4199-A700-5855A76EA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552700"/>
            <a:ext cx="1619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学生端能力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E77740-C450-4D36-8839-418A72714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1432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课程进度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4CFED8-C6AD-4495-9305-BEB0205D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3623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学生可看到当前学习完成情况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0DB681-CCAA-4973-8F77-5F2DA370E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957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错误分布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0FE937-B56D-46D6-9770-08188E17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9147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高频错误类型直接暴露出来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8A33FC-4443-4A45-BD9A-C48CE4BE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4815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资源推荐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4EEB23-47DD-479F-AD3E-72210893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6722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围绕教材页码和视频链接补充学习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7DAB20-9525-46D7-BD24-743B165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00600"/>
            <a:ext cx="114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留言互动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1C76A8-7422-4EA8-A1FF-1DD7E220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19675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模型不足时保留人际反馈通道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DFF430-89E7-4996-86E5-9F0B72A6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37DE35-DD86-42FE-8B16-1F6C318D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22241407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17DB1C-E007-4092-AA6A-EAF64B809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3A1D0A-D858-44BF-840D-FFF5B867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FFF4A-3CAF-4122-832A-F358BBD0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61492D-F70E-4563-A80C-33F23ACBC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0BC08-F263-40C9-9CDA-A099FB4EE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2F016-7FF9-4EB0-B5FA-71661CB3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EFF00-6996-4547-8497-AFAF64170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4CBF0F-487E-49D6-A763-AA2D67FF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07 / PRODUCT PROOF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83189-25DE-424A-9ABC-C498C766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教师端重点服务“可组织、可观察、可干预”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3ED8A6-E547-4FB6-B4AF-42376150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49149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EB1254-F005-4C54-AC4A-12E64121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49149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5f86449425450c"/>
          <a:stretch xmlns:a="http://schemas.openxmlformats.org/drawingml/2006/main"/>
        </p:blipFill>
        <p:spPr>
          <a:xfrm xmlns:a="http://schemas.openxmlformats.org/drawingml/2006/main">
            <a:off x="819150" y="2761872"/>
            <a:ext cx="4686300" cy="2572506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C9CC5E-5E3B-4D24-83FF-1BC0CAFFA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38375"/>
            <a:ext cx="47053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48F1D-0404-4E0A-9E55-C9E861151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90750"/>
            <a:ext cx="4705350" cy="2305050"/>
          </a:xfrm>
          <a:prstGeom xmlns:a="http://schemas.openxmlformats.org/drawingml/2006/main" prst="roundRect">
            <a:avLst>
              <a:gd name="adj" fmla="val 33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c76d872a644bc6"/>
          <a:srcRect xmlns:a="http://schemas.openxmlformats.org/drawingml/2006/main" l="13069" t="0" r="1306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19800" y="2305050"/>
            <a:ext cx="4476750" cy="207645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583BFA-9111-4A14-8623-795B94BF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810125"/>
            <a:ext cx="4705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B1BBD2-BC5C-4EC5-B25E-59318C6D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762500"/>
            <a:ext cx="47053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0B1633-7792-48BD-9E03-E74F9E8FB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010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5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教师端不是学生端镜像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51FD12-3691-4A7E-BF2D-F2B1F00B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53050"/>
            <a:ext cx="3771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05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它更强调课程资源维护、错误分布观察、学习记录查看与消息干预，保证智能辅学不会脱离课堂管理。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52949D6-7293-4DA6-B122-8339EDA70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2E0628-8032-467E-A654-0CE9B5210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864211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670917-1C20-4DDF-94AD-3ADC7A47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798C14-D0CE-497E-873F-3004BCB0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2C54C-45AB-4180-A01B-DE754167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81E9B0-87A5-4E36-9550-9613A3D1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9B86F7-6994-4C46-BA31-3DD0DE5A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03A320-1D3F-403C-A976-DBBB97A4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E4420-863D-4341-99A0-A9B93DE6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EFAEE5-9F3B-4979-AFEA-4F1CB974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08 / CODE EXECUTION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9A8C3-90FA-4FDC-932A-1C063274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在线编程迁移到浏览器沙箱执行，降低后端直接运行风险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2DC5A8-D30D-491D-AD9C-D2E363D03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48768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3E86C3-4707-4D1C-85E1-92CEF1A8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4876800" cy="3638550"/>
          </a:xfrm>
          <a:prstGeom xmlns:a="http://schemas.openxmlformats.org/drawingml/2006/main" prst="roundRect">
            <a:avLst>
              <a:gd name="adj" fmla="val 2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382c830f4e4777"/>
          <a:stretch xmlns:a="http://schemas.openxmlformats.org/drawingml/2006/main"/>
        </p:blipFill>
        <p:spPr>
          <a:xfrm xmlns:a="http://schemas.openxmlformats.org/drawingml/2006/main">
            <a:off x="1274031" y="2305050"/>
            <a:ext cx="3662237" cy="34099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36B25-7853-4032-AF88-5C53C2D40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381250" cy="36385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0A267-F3F2-4015-9F95-5E890D2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190750"/>
            <a:ext cx="2381250" cy="36385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659bb3b9464614"/>
          <a:stretch xmlns:a="http://schemas.openxmlformats.org/drawingml/2006/main"/>
        </p:blipFill>
        <p:spPr>
          <a:xfrm xmlns:a="http://schemas.openxmlformats.org/drawingml/2006/main">
            <a:off x="5962650" y="2311450"/>
            <a:ext cx="2152650" cy="3397151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72D11-354B-4E62-9F69-82B3A57F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238375"/>
            <a:ext cx="2152650" cy="36385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B990D-DF49-4A4D-84FC-E247FF70B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90750"/>
            <a:ext cx="2152650" cy="3638550"/>
          </a:xfrm>
          <a:prstGeom xmlns:a="http://schemas.openxmlformats.org/drawingml/2006/main" prst="roundRect">
            <a:avLst>
              <a:gd name="adj" fmla="val 35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AF3F6B-783B-4B62-AF8D-12732BB85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514600"/>
            <a:ext cx="1238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57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关键机制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2D6C3A-53FF-4515-B71C-ED45EC1B2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4800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985B30-8FBB-418A-B172-30ADE424C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24200"/>
            <a:ext cx="121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Web Worker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681CB1-BD67-4A96-9FC5-ECA4283A9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5242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915797-BFA3-4FC8-8468-BBEDA57EC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600450"/>
            <a:ext cx="121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Pyodide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B8C672-4084-4FD8-84E9-1EA0495EC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0050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BA615-9754-4181-99C1-E70698F2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076700"/>
            <a:ext cx="121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WebAssembly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EF872C-E0C8-4550-821D-299EF8E8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476750"/>
            <a:ext cx="12192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6F9C37-2AE2-487C-83B1-D7B50E79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52950"/>
            <a:ext cx="12192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postMessage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FDBAF8-0C9B-4427-B0AD-B9683BC51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43500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学生代码主要占用浏览器本地资源，服务端保留课程、任务、记录和资源接口职责。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572322-993A-43A5-9504-C2CB87F24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12DD0D9-BAE0-4DAF-B06D-8AAA8FB8A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9252105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ACABCE-F14D-4537-9109-677037F1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18D8BA-D2E4-425E-A06F-009428C1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315826-6085-483C-B12A-010DA2A6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4CC79-8546-4F31-938E-E9DCD58F6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99A552-DD29-4929-AC7C-BE87DBE42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B7BD4D-E7FA-44CA-B3B4-DEF9DEEB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B083DF-B1E3-4216-A299-9785FAFDD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60E9FF-A47B-4140-A81C-83598C6D6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09 / AI TUTOR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7C3589-6E0C-4970-AAEE-9C137273F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大模型能力按学习场景拆分，并通过输出边界控制风险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5AA90-ACB4-49BB-A41E-0009A93E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55054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247E9-A805-4234-98E8-BDBEB85E9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5505450" cy="3581400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41dc03c0824be2"/>
          <a:stretch xmlns:a="http://schemas.openxmlformats.org/drawingml/2006/main"/>
        </p:blipFill>
        <p:spPr>
          <a:xfrm xmlns:a="http://schemas.openxmlformats.org/drawingml/2006/main">
            <a:off x="1992307" y="2324100"/>
            <a:ext cx="2930536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8ABF8-D7A3-4AEF-BDAE-5BCDAAB0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5742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2B80A-F276-46D5-8A17-6E87F34C4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098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A5E7C4-9DC5-4E77-B7FB-279EEB54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622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自由问答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E850F-4BA4-43B8-984B-B7C4F2941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289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概念解释与思路提示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6E189-68F4-4A36-A8A6-8A0D823E7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25742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7296C0-DD38-493C-9E89-FC4388C9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2098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A4A8D5-70B5-4C20-A675-F507C09FD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622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代码解释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472A5E-C795-4436-9E70-13F6A1E66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6289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先整体，再局部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710430-9A06-4AEE-A06A-CD462FE51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38137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D381C8-E8A6-4D34-9695-3B8626991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33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D21AB3-9F6A-4FA3-9B4B-4A510B53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报错解析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D1D85C2-4067-4CC9-9FF7-EC474FEE1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528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含义、位置、修改引导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C11E03-C6CB-4A68-B00B-3280E321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8137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3AF4E1-5170-4520-9BAC-A0E04AD47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33375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12BFD9-1C17-458B-927D-55770F0A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48615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问题分解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8F2172-1267-417A-943B-9C1C37CB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528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把综合任务拆成步骤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4F73AD-5185-4BB4-AEBC-96891C02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450532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8EE129-E071-48E9-A6F9-232D8C71B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4577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4F7FB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7D389EC-91DF-4889-BF08-6763A280D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10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2B5CB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2B5CB"/>
                </a:solidFill>
                <a:latin typeface="Google Sans"/>
                <a:ea typeface="Google Sans"/>
                <a:cs typeface="Google Sans"/>
              </a:rPr>
              <a:t>抽象建模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42C6AB-A508-4C70-B12F-26D7CE02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768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提炼输入、规则、输出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2EF5B3-05EB-40B4-AB8C-913B8714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05325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35E083-FF76-43A6-975B-E5D4A97E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577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DAE0F52-D0E0-4E08-938E-48145694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0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算法设计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993605-3106-4355-96DF-0F1963E59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87680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流程模板组织思路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69DE54D-7AED-4D29-8413-E4BA32525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76900"/>
            <a:ext cx="3619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1050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场景识别 → 约束生成 → 教学化输出 → 风险兜底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351935-1466-4C50-AA05-1A5237A4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A445237-92F6-4DD1-9136-1E8640A6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94105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DE3C24-9AEE-4EF4-AA50-0486977A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E1BB03-B9E0-4475-8ADA-86E34B3D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EAE170-A94C-4F98-B60B-41F9B919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62AEF-5BB2-4B54-B44E-151A90BCC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EFFA44-7912-4049-AA69-488A2AF2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C00CBA-0296-4A90-98EE-EF873A38E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76E4AB-D193-4913-BB0A-78A85355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81EE02-F41F-437A-8B5D-86422246F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2B5CB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2B5CB"/>
                </a:solidFill>
                <a:latin typeface="Google Sans"/>
                <a:ea typeface="Google Sans"/>
                <a:cs typeface="Google Sans"/>
              </a:rPr>
              <a:t>10 / DATA 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5C5A6C-7F74-47F1-8BD6-6A883550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数据库不只保存结果，也保存可分析的学习过程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066CA-1B1F-46E3-A415-DD7C04BC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57425"/>
            <a:ext cx="57150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F7650-D61F-4EB9-A718-C43A1001C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5715000" cy="3600450"/>
          </a:xfrm>
          <a:prstGeom xmlns:a="http://schemas.openxmlformats.org/drawingml/2006/main" prst="roundRect">
            <a:avLst>
              <a:gd name="adj" fmla="val 21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a6f5160a242d5"/>
          <a:stretch xmlns:a="http://schemas.openxmlformats.org/drawingml/2006/main"/>
        </p:blipFill>
        <p:spPr>
          <a:xfrm xmlns:a="http://schemas.openxmlformats.org/drawingml/2006/main">
            <a:off x="1375331" y="2324100"/>
            <a:ext cx="4297839" cy="33718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3DD309-7D7E-459D-B9F6-1614F90F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57425"/>
            <a:ext cx="3714750" cy="37338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B7D35-46C3-4F75-9FDB-04BD1068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3714750" cy="373380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904E00-5863-48C5-9666-DD4706E9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5146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核心数据表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E39346-D504-46B8-A6DC-4F5E6665C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D67407-ECA1-4566-9DF8-59C37B6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908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users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AC2FE9-6292-4E36-9E18-49D224C0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908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用户、角色、学校、班级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4990C-07FC-43E6-BA55-5BD0FDAD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718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00F43B-67B1-42FD-A2E3-6D95C9FEC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3147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courses / contents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F8CF1E-11BF-49F7-8E0D-20A728983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147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课程结构与内容索引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B38F0D-D341-471B-81ED-D09FBFC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957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2D8E91-E746-4878-932D-29FFCCD0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6385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tasks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5C6B5-C7AC-4F14-917E-0EAFAC1A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6385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任务代码、状态与时间信息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B0FE36-8FF7-424A-83A5-99C89EA51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195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35971A-F13C-4A96-A5C7-7BF793E93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9624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knowledges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57A02F-83AD-43FA-96FE-467B8760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9624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知识点与课程内容关联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51ADC9-CF22-4686-92AB-63209F9C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434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5C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6FD688-7599-4976-848D-FA1DF00A7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862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resources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B31796-4618-40A1-91CA-5C3064303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862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教学资源与权限信息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4444644-5CFB-47E2-A03B-F6BEF1A1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6672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4F00E1-F5A5-4AFA-B847-CE6611A2E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61010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comments / likes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2AB666-65AD-4A9C-AAF7-4730E773E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61010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消息互动与点赞关系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713C24A-BA2F-4811-8279-DC226907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991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5E4929-6003-4831-A96D-9F3FE2FAD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933950"/>
            <a:ext cx="1257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863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records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C32DFEB-A32B-486D-A283-9B909CF1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339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页面访问、代码运行、错误类型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6849CFF-1393-4709-80B7-D2125AD0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391150"/>
            <a:ext cx="2857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91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records 表是后续学习者建模、分层推荐和教学效果评价的数据入口。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5C3EDF-6A84-46E3-9C4F-A1B223AF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2AD39D-A296-4077-A22B-78E712419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7171275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BA667D8-6B3A-40A2-A345-122AA5AFD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1BFFD-B257-48DB-BB0E-D0A92DD43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6A1BDC-FC9D-4EFE-A97B-016191A0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2E04FA-D928-401C-8D9F-01158FE01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F7815-D82D-45A0-9453-A4701B23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DA412-EED1-497E-836C-0EB859216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D1F09-ED76-429C-A75A-4CA7D7D2E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B3E591-4DD7-4E71-839F-54F02ADD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11 / 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C44FA5-AD4F-48F4-9739-7C2CAD6A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测试围绕“登录—课程—代码—记录—反馈”学习回路展开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BE172-AF7C-48E8-AA25-D2439D0FB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5905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7785F-81AA-4320-9830-81316D48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5905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263FF9-D25C-4292-A289-FC717CBD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908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6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功能测试结果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167959-C10F-4F32-BBC6-4BD12DB1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5257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CF70D-1235-4C67-98D4-4F5A7FC20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1051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编号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6CE494-BC05-43C1-AB8F-F0031B01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1051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9AFD6-5E13-40CC-B3A3-76B16D37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05150"/>
            <a:ext cx="2286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测试内容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80CF85-248E-4149-8037-E49CED8D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05150"/>
            <a:ext cx="666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结果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80E70AD-DB75-483E-8FD2-2FC7E7FB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290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T1-T3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EE5A95-2BCA-4492-8690-0C381334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4290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登录认证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3D5835-C48C-4F67-B283-0BC5D36B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429000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教师登录、错误课程码、未登录拦截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8C5ED-96B8-403D-A8D1-A569584E0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通过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29900F-146F-45B3-89AE-5AD183E0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2427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T4-T6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FB1CF-E687-461F-A0AC-768EBCB5B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72427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在线编程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A3AFA6-359B-4132-8C6C-45DF7724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724275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正确代码、危险导入、无限循环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40E7AE-AFFC-4255-A92E-0AE8D00F9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24275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E16FAF-7857-4ADC-9CF0-46D53C76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1955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830DE3E-337F-4CE4-9A27-21045AA8C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1955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报错分析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F3BE7-1DFE-4212-8B80-E88E5F89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19550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语法错误解释与定位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1DE3F-11CD-4201-B4C6-463AAD9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1955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通过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9B08E8-15BD-44E7-BA03-63FFCED7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314825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T8-T9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508576-4FA4-4398-8AA2-0B0696AC2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314825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消息互动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B9AC2A-3D74-4C87-B64C-EA46ADBC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14825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发送消息、查询对话历史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177665-2A9E-4561-8440-DED52822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14825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通过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9D9E0F2-DA40-4DAA-8060-91C9A635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610100"/>
            <a:ext cx="609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T10-T12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EC1231-D46E-4744-963F-78F6320A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10100"/>
            <a:ext cx="819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788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资源/课程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DA5A94-B734-4EA7-9BC9-F1F829DD1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610100"/>
            <a:ext cx="23336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7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权限更新、权限查询、课程结构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5E5703-FB99-40A8-9068-FA6A0478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10100"/>
            <a:ext cx="3619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788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通过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70B8BD4-C442-4178-8836-6244E7D5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526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4FD450F-8555-49F5-A361-04323428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050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D03CB11-A440-4DAD-8313-45035923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765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12 项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78010CD-0F28-47E2-86AA-E43643449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765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功能用例均通过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980429-99B8-4976-934C-52DD3BE02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526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C8DA8F-F5C4-4B2E-B264-ED649A76B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E4400D-8183-4051-8242-78F2FBD0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765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100ms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9CC382A-26F3-4625-A2EF-4EFE4A6E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765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典型 Python 基础代码以内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CBA1437-51FE-4D3E-AA3E-D752F5D9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242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103E4F-86C7-45B0-B7AB-E61B60394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6766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4F7FB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D2B015-6E6B-4859-AD0A-340472B18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481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B5CB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12B5CB"/>
                </a:solidFill>
                <a:latin typeface="Google Sans"/>
                <a:ea typeface="Google Sans"/>
                <a:cs typeface="Google Sans"/>
              </a:rPr>
              <a:t>1-3s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D34097B-F489-4899-B3DF-CA662568C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481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模型接口常见响应区间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D673164-3DE8-4112-B850-4010D8BE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7242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5674D55-257F-46D9-B19E-208E00D4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76650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971A6CD-75A2-4780-81C5-CB8AAD10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848100"/>
            <a:ext cx="1200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210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12 个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D212666-A2B3-45F6-A6C9-88A5CBE5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248150"/>
            <a:ext cx="1200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938" b="1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Uvicorn workers 配置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3305BD-05EC-4948-ADC8-73C0DA1CD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81650"/>
            <a:ext cx="809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结论边界：当前验证的是系统可运行性和工程可用性，教学效果仍需真实课堂实验进一步证明。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617A274-16C2-4BAF-950A-55D52318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59A031E-24F2-43EF-8072-ACAC3970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28014740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6E4A6B-5E15-4311-ADBC-FB538D3A4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1BF926-AEF8-4745-B3A4-63F26F04D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E1C843-F2D8-4AD3-8014-6C675A83A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965A1-04F8-44F0-8C7B-C2D4A361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D672D-6FF4-4736-9BAC-512B1533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4B18A5-A44C-48A4-B51F-B889473F4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87AE30-3BDA-4FD3-A534-0FF59CE3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46289-BF1B-498F-9F95-D3F4C5C5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12 /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4826B-30AA-4ED3-8327-7F5323C9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安全设计分成认证安全、代码安全和教学安全三层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629D15-897C-40E3-AFE2-7A270364B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09825"/>
            <a:ext cx="2800350" cy="28956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61EAEA-338C-491F-A8BA-68238BA9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800350" cy="28956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335DC3-EA7F-4083-A541-24E941B00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05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575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认证安全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A89055-5FDB-4987-95AB-C3E1646E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D0213-C81E-4514-8C20-531CBCEE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76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JWT 身份认证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7418F-C435-4799-ACE1-CC910CD5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1472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统一校验登录态与用户身份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759B27-5BE4-4F9E-A166-5A8FFC16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FC464D-3F38-4C50-AA5A-67162F39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671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角色权限隔离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E1B3DF-39E8-4B2B-838B-D43773E0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0527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学生无法调用教师专用接口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C7F701-1557-4CFA-AEE4-4D2A5BD4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DAE1CD-9893-44D0-AFCA-6CE1C2497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HttpOnly Cookie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EAD86D-D5DA-46D9-8A4E-A82A66AA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9582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降低客户端脚本读取 Token 风险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2BB83E-C1D4-4EA7-B48A-326130C8F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409825"/>
            <a:ext cx="2800350" cy="28956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D5A0EC-082C-4CC4-A981-9C230276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62200"/>
            <a:ext cx="2800350" cy="28956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EE678D-ACDD-42AE-8865-FBA0608B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05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1575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代码安全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1129A0-DC38-4BB5-88C5-627FA5A4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B71F79-ECF0-4930-A28A-678D6F49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76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危险导入拦截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5DD2FEA-77F6-4ADF-96B7-2622E417A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51472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拦截 os、sys、subprocess 等模块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0AE38A-37C1-4203-9F56-AF725FE1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024B49-90A5-467C-8A68-C62A09A1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671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无限循环检测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31629AE-1152-41E0-ACF7-1413DFFA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10527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通过迭代次数监控兜底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2C93F79-B871-4909-A106-BE661CA64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4F961E-2A58-4DD0-B621-C6F59042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577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超时与系统调用限制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3BE2C1-F552-4E53-B5C3-30CF0AAE4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9582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避免执行失控影响服务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883763-BC77-4510-B1DD-72C072460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09825"/>
            <a:ext cx="2800350" cy="28956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84DDCDE-FF73-43A3-913B-761E8E029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62200"/>
            <a:ext cx="2800350" cy="289560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CFCC4-DED7-4238-B7FC-1ACDB400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0510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575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教学安全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4D6029A-B23E-4FE8-A7AC-D15E6035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343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03B44A-7EF1-4D22-8C5F-A7804090F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2766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提示词边界约束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31DF254-B7C1-46C3-AF23-5CD420F67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1472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限定编程学习与适龄表达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0CABEB-B8AB-4333-9241-6B289BA7F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33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1DC652F-6FC0-4F4A-A8F5-6D7DC355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86715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输出结构化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822A6B0-53EC-4DAD-8A1F-F6A55F77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10527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优先给思路、步骤和启发式提示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25E971-3622-4745-B598-830105AD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524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ACB02A1-A984-4D06-9B06-02C00E25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57700"/>
            <a:ext cx="20764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日志与教师介入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0BA673-2E55-4172-9348-D991F8C1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95825"/>
            <a:ext cx="20764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高风险或低置信回答可复核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DD4C62B-45C4-4FAB-B77B-A1A5B3F2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715000"/>
            <a:ext cx="769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能力越强，边界越要清楚；平台把模型放进教学流程，同时保留规则、记录和人工复核。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9D05D9F-8435-4A93-8616-031E91A7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699A124-E379-472A-8826-21D1186A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41964875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E40752-CEB1-48D7-9090-534563974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93DA08-2439-4394-B65D-11A24E08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DC3EF6-EF7F-404F-BBF0-FD5C2F76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8C3609-1254-465F-BBCC-4A25E604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00E0D5-D18D-4A3E-8BAC-4665F8D7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33B95D-3906-4E8E-91D5-B06F8EDC4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0361C-498A-41F1-BA48-851F2A0EB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FBCF56-8673-40A4-981C-4729F5B70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438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13 / ROADMAP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832500-0249-4183-90A2-8384AC3C2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8953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5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后续工作从工程验证走向教学验证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08A660-50F7-4865-975B-5E8EC186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F0F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E4AAA8-81CE-43BE-A550-49DDC761B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86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近期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E1077-9CE2-449C-BCA5-704005BC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E2E 测试与持续集成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8A961F-08DA-41E6-9EF0-C5992AE8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覆盖完整学生学习流程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410880-286C-4C57-95D8-4D27EA45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226BB-C2D9-4FCF-8878-606AFA61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5A4C1B-9BEB-433F-8B7A-99DF13C22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8575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6F4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C5F5D8-976B-417F-BC03-B3BDA9C2F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86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中期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9CA440-DCCE-4E7C-B688-93F5EE09C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3718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RAG 私域知识库增强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A5FCC3-BB4F-444C-8AA4-4CAB07E06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829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提高课程相关性，减少泛化回答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DEAB6F-A790-48F9-9CF1-2295255E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62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FE9825F-6DB0-4EBA-8D1A-FCBD9C58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97064F-94C3-4CD8-83D8-B56AEC93F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CE8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7B3160-BFDD-4F56-ADC7-D74073B9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086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EA4335"/>
                </a:solidFill>
                <a:latin typeface="Google Sans"/>
                <a:ea typeface="Google Sans"/>
                <a:cs typeface="Google Sans"/>
              </a:rPr>
              <a:t>中期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E6E1E71-FFA9-4291-BCD9-96F7C102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718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学习者建模与推荐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71B7BE-B6AD-4B9C-9697-997E1CD8A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829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利用 records 表刻画学习过程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3DC0FA-47A3-446F-8995-723166B6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623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12A941B-84F4-46BD-BC0E-1B94BF19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956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DADC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0CAC16-F2EC-4787-BA7D-D7F587D4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57500"/>
            <a:ext cx="2000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EF7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C0DDBE-77B0-44D7-A61E-3743969E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86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C58B00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C58B00"/>
                </a:solidFill>
                <a:latin typeface="Google Sans"/>
                <a:ea typeface="Google Sans"/>
                <a:cs typeface="Google Sans"/>
              </a:rPr>
              <a:t>远期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BC9ADF-B77A-4DBB-AD48-CD39D2E4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3718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3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课堂实验与量化评估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53A705-1300-4EBC-B940-A7DCB6D00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829050"/>
            <a:ext cx="14668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6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验证编程能力、兴趣与自我效能变化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33D46A-D071-4EDB-8232-BAD4FFF45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05400"/>
            <a:ext cx="8610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C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3B2B1A-5A9E-4EC2-BB2A-FE89B1B4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29250"/>
            <a:ext cx="762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20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当前毕业设计阶段的结论：系统设计合理、核心功能可运行；教学效果需要下一阶段实验数据支撑。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1450344-E353-4EDD-890E-2C3A4175A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151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713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毕业设计答辩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DB8DB6-159F-4631-9815-D9E18F68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477000"/>
            <a:ext cx="438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900" b="1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6141874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58691-B294-4EA2-8B1B-6403F387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D91EF-E93C-4CF0-B3E4-5545AE286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AA1B87-7181-44C2-832A-6A507A929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6FC3EB-D4F3-4E5D-866A-A9FECEF0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BC0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72DDD-BBF3-4902-972C-B62F1881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2286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3CBE0-924C-4527-BA5A-0C4B2067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342900"/>
            <a:ext cx="7620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BCD36D-6929-4365-BA48-A3477747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4572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409999-F101-45DB-B1C9-08FEF420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81050"/>
            <a:ext cx="228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2850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总结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33532A-120E-4470-9C6D-2BD98BEE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9065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C4043"/>
                </a:solidFill>
                <a:latin typeface="Google Sans"/>
                <a:ea typeface="Google Sans"/>
                <a:cs typeface="Google Sans"/>
              </a:defRPr>
            </a:pPr>
            <a:r>
              <a:rPr sz="1350" b="0">
                <a:solidFill>
                  <a:srgbClr val="3C4043"/>
                </a:solidFill>
                <a:latin typeface="Google Sans"/>
                <a:ea typeface="Google Sans"/>
                <a:cs typeface="Google Sans"/>
              </a:rPr>
              <a:t>本文完成的是一个能支撑“登录、学习、提交、反馈、记录、干预”的平台原型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43BF5F-A7CC-4983-974B-490D5362B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4191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03934-ADD3-4E0E-B35C-B972C831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81250"/>
            <a:ext cx="4191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D53080-F78A-4218-8411-EC8DFD9D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A73E8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1A73E8"/>
                </a:solidFill>
                <a:latin typeface="Google Sans"/>
                <a:ea typeface="Google Sans"/>
                <a:cs typeface="Google Sans"/>
              </a:rPr>
              <a:t>已完成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3F1968-3D3D-45C0-A191-391E3CC9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B3BFD1-696A-46E5-B923-A727D47CC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147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智能编程学习平台设计与实现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0C16FB-8EB3-4640-9AB8-5E3A8A1D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528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覆盖学生学习与教师管理两个侧面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63C0B-9839-4BAB-88CE-504C2F1B6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05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436FFB2-5D10-43FE-AEEE-8D92CBD6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38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大模型嵌入具体学习环节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D50D96-530C-4E91-9062-16F89961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2767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代码解释、报错解析、问题分解、建模与算法引导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C9099-47D1-4AB5-96A8-2F1F8EAD6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28875"/>
            <a:ext cx="4191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E56E82-F9A6-45C6-9C70-50DDBC89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81250"/>
            <a:ext cx="41910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C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507D3A-D68F-43B9-9FD6-E2EC25B2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241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4A853"/>
                </a:solidFill>
                <a:latin typeface="Google Sans"/>
                <a:ea typeface="Google Sans"/>
                <a:cs typeface="Google Sans"/>
              </a:defRPr>
            </a:pPr>
            <a:r>
              <a:rPr sz="1725" b="1">
                <a:solidFill>
                  <a:srgbClr val="34A853"/>
                </a:solidFill>
                <a:latin typeface="Google Sans"/>
                <a:ea typeface="Google Sans"/>
                <a:cs typeface="Google Sans"/>
              </a:rPr>
              <a:t>价值边界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514383-69F3-40FD-AC01-DAA8C345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813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A85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ADB315-C4D6-405D-9CE7-AE260B08A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147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系统流程已贯通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2992F8-1591-44BA-AD0F-07F3268B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528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核心功能和基础安全机制经过验证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E7D718-28CD-41C4-997A-4643E250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10527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433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5D1CF-7C10-408F-ABAC-8955F712D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38600"/>
            <a:ext cx="3143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defRPr>
            </a:pPr>
            <a:r>
              <a:rPr sz="1125" b="1">
                <a:solidFill>
                  <a:srgbClr val="202124"/>
                </a:solidFill>
                <a:latin typeface="Google Sans"/>
                <a:ea typeface="Google Sans"/>
                <a:cs typeface="Google Sans"/>
              </a:rPr>
              <a:t>教学效果仍需实证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55A460-C55E-4E5E-AC33-5A58B6F86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76725"/>
            <a:ext cx="3143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defRPr>
            </a:pPr>
            <a:r>
              <a:rPr sz="810" b="0">
                <a:solidFill>
                  <a:srgbClr val="5F6368"/>
                </a:solidFill>
                <a:latin typeface="Google Sans"/>
                <a:ea typeface="Google Sans"/>
                <a:cs typeface="Google Sans"/>
              </a:rPr>
              <a:t>后续依赖课堂实验和过程数据评估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6C533B-129F-4FED-AFC8-A8BD0FF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657850"/>
            <a:ext cx="4476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A7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6AF226-3696-4583-80F6-E32D88C0E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810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Google Sans"/>
                <a:ea typeface="Google Sans"/>
                <a:cs typeface="Google Sans"/>
              </a:defRPr>
            </a:pPr>
            <a:r>
              <a:rPr sz="1800" b="1">
                <a:solidFill>
                  <a:srgbClr val="FFFFFF"/>
                </a:solidFill>
                <a:latin typeface="Google Sans"/>
                <a:ea typeface="Google Sans"/>
                <a:cs typeface="Google Sans"/>
              </a:rPr>
              <a:t>谢谢各位老师，请批评指正</a:t>
            </a:r>
          </a:p>
        </p:txBody>
      </p:sp>
    </p:spTree>
    <p:extLst>
      <p:ext uri="{BB962C8B-B14F-4D97-AF65-F5344CB8AC3E}">
        <p14:creationId xmlns:p14="http://schemas.microsoft.com/office/powerpoint/2010/main" val="287363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2026-05-09T18:22:49.2700000Z</dcterms:created>
  <dcterms:modified xsi:type="dcterms:W3CDTF">2026-05-09T18:22:49.2700000Z</dcterms:modified>
</coreProperties>
</file>