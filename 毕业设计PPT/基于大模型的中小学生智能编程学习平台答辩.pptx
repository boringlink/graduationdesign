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73"/>
  </p:normalViewPr>
  <p:slideViewPr>
    <p:cSldViewPr snapToGrid="0">
      <p:cViewPr>
        <p:scale>
          <a:sx n="106" d="100"/>
          <a:sy n="106" d="100"/>
        </p:scale>
        <p:origin x="85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>
            <a:extLst>
              <a:ext uri="{FF2B5EF4-FFF2-40B4-BE49-F238E27FC236}">
                <a16:creationId xmlns:a16="http://schemas.microsoft.com/office/drawing/2014/main" id="{32D5210F-6B16-4199-AC8B-3C292EA68E6C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E2DD78F-6B56-4969-BBF6-D74C5AE5C81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1BFCD7E-9449-44AC-BD2D-4C23A36CA6F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050573B-4E73-401B-8DB3-A84EA27EE3FC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320637-B202-43F9-88AA-3176D09C540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E295B4-C310-4BE4-A221-6B1C10D6B1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E"/>
          </a:solidFill>
          <a:ln w="0">
            <a:solidFill>
              <a:srgbClr val="F8FAF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B9D818-CF32-46BF-805D-47170DCD4E25}"/>
              </a:ext>
            </a:extLst>
          </p:cNvPr>
          <p:cNvSpPr>
            <a:spLocks noGrp="1"/>
          </p:cNvSpPr>
          <p:nvPr/>
        </p:nvSpPr>
        <p:spPr>
          <a:xfrm>
            <a:off x="571500" y="637090"/>
            <a:ext cx="5810250" cy="4381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基于大模型的中小学生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CF5757-49CA-471A-915A-840A3CBAD37B}"/>
              </a:ext>
            </a:extLst>
          </p:cNvPr>
          <p:cNvSpPr>
            <a:spLocks noGrp="1"/>
          </p:cNvSpPr>
          <p:nvPr/>
        </p:nvSpPr>
        <p:spPr>
          <a:xfrm>
            <a:off x="571500" y="1075240"/>
            <a:ext cx="61912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智能编程学习平台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B1319B-9D55-4D24-96E8-B7A82AECC8D2}"/>
              </a:ext>
            </a:extLst>
          </p:cNvPr>
          <p:cNvSpPr>
            <a:spLocks noGrp="1"/>
          </p:cNvSpPr>
          <p:nvPr/>
        </p:nvSpPr>
        <p:spPr>
          <a:xfrm>
            <a:off x="571500" y="1627690"/>
            <a:ext cx="3619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设计与实现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0ED57-435E-4658-A6FF-0F986F07DD54}"/>
              </a:ext>
            </a:extLst>
          </p:cNvPr>
          <p:cNvSpPr>
            <a:spLocks noGrp="1"/>
          </p:cNvSpPr>
          <p:nvPr/>
        </p:nvSpPr>
        <p:spPr>
          <a:xfrm>
            <a:off x="600075" y="2218240"/>
            <a:ext cx="561975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Design and Implementation of an Intelligent Programming Learning Platform Based on LLMs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4A638F2-6AC7-47AE-892E-34088A4E20E4}"/>
              </a:ext>
            </a:extLst>
          </p:cNvPr>
          <p:cNvSpPr>
            <a:spLocks noGrp="1"/>
          </p:cNvSpPr>
          <p:nvPr/>
        </p:nvSpPr>
        <p:spPr>
          <a:xfrm>
            <a:off x="571499" y="2655524"/>
            <a:ext cx="21578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58AD8E-F377-4B6D-AF67-73B4D67CF3E0}"/>
              </a:ext>
            </a:extLst>
          </p:cNvPr>
          <p:cNvSpPr>
            <a:spLocks noGrp="1"/>
          </p:cNvSpPr>
          <p:nvPr/>
        </p:nvSpPr>
        <p:spPr>
          <a:xfrm>
            <a:off x="571499" y="2655524"/>
            <a:ext cx="2157825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D4F4A-990A-4149-A903-56C101A81FFF}"/>
              </a:ext>
            </a:extLst>
          </p:cNvPr>
          <p:cNvSpPr>
            <a:spLocks noGrp="1"/>
          </p:cNvSpPr>
          <p:nvPr/>
        </p:nvSpPr>
        <p:spPr>
          <a:xfrm>
            <a:off x="742950" y="2846024"/>
            <a:ext cx="1794826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6 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D64228-E8A6-4194-AEF0-1B9FF3BDF9CD}"/>
              </a:ext>
            </a:extLst>
          </p:cNvPr>
          <p:cNvSpPr>
            <a:spLocks noGrp="1"/>
          </p:cNvSpPr>
          <p:nvPr/>
        </p:nvSpPr>
        <p:spPr>
          <a:xfrm>
            <a:off x="742950" y="3150824"/>
            <a:ext cx="1794826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大模型辅学场景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E87724-A482-4105-98FA-BE1E28BB8E79}"/>
              </a:ext>
            </a:extLst>
          </p:cNvPr>
          <p:cNvSpPr>
            <a:spLocks noGrp="1"/>
          </p:cNvSpPr>
          <p:nvPr/>
        </p:nvSpPr>
        <p:spPr>
          <a:xfrm>
            <a:off x="742950" y="3322274"/>
            <a:ext cx="1794826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问答 / 解释 / 报错 / 分解 / 建模 / 算法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C125C05-2F8C-4D79-827A-91188D6453C6}"/>
              </a:ext>
            </a:extLst>
          </p:cNvPr>
          <p:cNvSpPr>
            <a:spLocks noGrp="1"/>
          </p:cNvSpPr>
          <p:nvPr/>
        </p:nvSpPr>
        <p:spPr>
          <a:xfrm>
            <a:off x="3050901" y="2655524"/>
            <a:ext cx="2476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68D4B9-2F6E-4C16-845E-175821E1899D}"/>
              </a:ext>
            </a:extLst>
          </p:cNvPr>
          <p:cNvSpPr>
            <a:spLocks noGrp="1"/>
          </p:cNvSpPr>
          <p:nvPr/>
        </p:nvSpPr>
        <p:spPr>
          <a:xfrm>
            <a:off x="3050901" y="2655524"/>
            <a:ext cx="24765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64ABE9-A1ED-4E09-9DA0-12CA5052ADB0}"/>
              </a:ext>
            </a:extLst>
          </p:cNvPr>
          <p:cNvSpPr>
            <a:spLocks noGrp="1"/>
          </p:cNvSpPr>
          <p:nvPr/>
        </p:nvSpPr>
        <p:spPr>
          <a:xfrm>
            <a:off x="3222351" y="2846024"/>
            <a:ext cx="2133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前后端分离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A7F396-6F69-47CB-96F0-0D8D9577C18F}"/>
              </a:ext>
            </a:extLst>
          </p:cNvPr>
          <p:cNvSpPr>
            <a:spLocks noGrp="1"/>
          </p:cNvSpPr>
          <p:nvPr/>
        </p:nvSpPr>
        <p:spPr>
          <a:xfrm>
            <a:off x="3222351" y="3150824"/>
            <a:ext cx="21336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平台工程架构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B8F773-CFEA-4878-81D8-FABA89BC2AFC}"/>
              </a:ext>
            </a:extLst>
          </p:cNvPr>
          <p:cNvSpPr>
            <a:spLocks noGrp="1"/>
          </p:cNvSpPr>
          <p:nvPr/>
        </p:nvSpPr>
        <p:spPr>
          <a:xfrm>
            <a:off x="3222351" y="3322274"/>
            <a:ext cx="2133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Nuxt3 + FastAPI + SQL Server + Redis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4C0BF80-E526-4206-AC27-9E16AC2C4495}"/>
              </a:ext>
            </a:extLst>
          </p:cNvPr>
          <p:cNvSpPr>
            <a:spLocks noGrp="1"/>
          </p:cNvSpPr>
          <p:nvPr/>
        </p:nvSpPr>
        <p:spPr>
          <a:xfrm>
            <a:off x="565370" y="3893774"/>
            <a:ext cx="21578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2E295D-A91B-49E5-9973-9ED8726CA558}"/>
              </a:ext>
            </a:extLst>
          </p:cNvPr>
          <p:cNvSpPr>
            <a:spLocks noGrp="1"/>
          </p:cNvSpPr>
          <p:nvPr/>
        </p:nvSpPr>
        <p:spPr>
          <a:xfrm>
            <a:off x="565370" y="3893774"/>
            <a:ext cx="2157825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9634AD-C033-4DE7-A664-61CBECFAB5C5}"/>
              </a:ext>
            </a:extLst>
          </p:cNvPr>
          <p:cNvSpPr>
            <a:spLocks noGrp="1"/>
          </p:cNvSpPr>
          <p:nvPr/>
        </p:nvSpPr>
        <p:spPr>
          <a:xfrm>
            <a:off x="736821" y="4084274"/>
            <a:ext cx="2177992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dirty="0" err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教师闭环</a:t>
            </a:r>
            <a:endParaRPr sz="1875" b="1" dirty="0">
              <a:solidFill>
                <a:srgbClr val="EA43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EFEFD4-4B0B-4E6D-AE1B-7E858A670B7B}"/>
              </a:ext>
            </a:extLst>
          </p:cNvPr>
          <p:cNvSpPr>
            <a:spLocks noGrp="1"/>
          </p:cNvSpPr>
          <p:nvPr/>
        </p:nvSpPr>
        <p:spPr>
          <a:xfrm>
            <a:off x="736821" y="4389074"/>
            <a:ext cx="217799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过程记录与干预</a:t>
            </a:r>
            <a:endParaRPr sz="90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E77106-5CFD-4B6E-9901-FB6E578A75FA}"/>
              </a:ext>
            </a:extLst>
          </p:cNvPr>
          <p:cNvSpPr>
            <a:spLocks noGrp="1"/>
          </p:cNvSpPr>
          <p:nvPr/>
        </p:nvSpPr>
        <p:spPr>
          <a:xfrm>
            <a:off x="736821" y="4560524"/>
            <a:ext cx="2177992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学习行为、代码运行、资源组织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D681EA9-EDAA-4E4A-9CD5-9FE712A31CA1}"/>
              </a:ext>
            </a:extLst>
          </p:cNvPr>
          <p:cNvSpPr>
            <a:spLocks noGrp="1"/>
          </p:cNvSpPr>
          <p:nvPr/>
        </p:nvSpPr>
        <p:spPr>
          <a:xfrm>
            <a:off x="571500" y="5174454"/>
            <a:ext cx="49559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56FBF1-D435-49D7-B0A9-6D325712C80B}"/>
              </a:ext>
            </a:extLst>
          </p:cNvPr>
          <p:cNvSpPr>
            <a:spLocks noGrp="1"/>
          </p:cNvSpPr>
          <p:nvPr/>
        </p:nvSpPr>
        <p:spPr>
          <a:xfrm>
            <a:off x="800100" y="5384004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答辩信息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E074C4-F62E-45CF-8B70-B6B74DE42255}"/>
              </a:ext>
            </a:extLst>
          </p:cNvPr>
          <p:cNvSpPr>
            <a:spLocks noGrp="1"/>
          </p:cNvSpPr>
          <p:nvPr/>
        </p:nvSpPr>
        <p:spPr>
          <a:xfrm>
            <a:off x="800100" y="5688804"/>
            <a:ext cx="4000500" cy="628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05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指导教师：</a:t>
            </a:r>
            <a:r>
              <a:rPr lang="zh-CN" altLang="en-US"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匡振中</a:t>
            </a:r>
            <a:endParaRPr lang="en-US" sz="105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学生：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林柏伟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5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学号：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22010210</a:t>
            </a: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专业：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  <a:endParaRPr sz="1050" b="0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0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杭州电子科技大学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· 2026 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年</a:t>
            </a:r>
            <a:r>
              <a:rPr sz="105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 5 </a:t>
            </a:r>
            <a:r>
              <a:rPr sz="105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月</a:t>
            </a:r>
            <a:endParaRPr sz="1050" b="0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72CAE95-4618-44A0-A068-73D5422A62EF}"/>
              </a:ext>
            </a:extLst>
          </p:cNvPr>
          <p:cNvSpPr>
            <a:spLocks noGrp="1"/>
          </p:cNvSpPr>
          <p:nvPr/>
        </p:nvSpPr>
        <p:spPr>
          <a:xfrm>
            <a:off x="7340167" y="820899"/>
            <a:ext cx="4000501" cy="244814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2C9AE8-96D3-4B83-8462-B69F8D27E377}"/>
              </a:ext>
            </a:extLst>
          </p:cNvPr>
          <p:cNvSpPr>
            <a:spLocks noGrp="1"/>
          </p:cNvSpPr>
          <p:nvPr/>
        </p:nvSpPr>
        <p:spPr>
          <a:xfrm>
            <a:off x="7340167" y="823970"/>
            <a:ext cx="4000501" cy="59582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6F4DD2F-32BA-4565-9E19-A5DF6FA6C972}"/>
              </a:ext>
            </a:extLst>
          </p:cNvPr>
          <p:cNvSpPr>
            <a:spLocks noGrp="1"/>
          </p:cNvSpPr>
          <p:nvPr/>
        </p:nvSpPr>
        <p:spPr>
          <a:xfrm>
            <a:off x="7340167" y="3419574"/>
            <a:ext cx="4000500" cy="301942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pic>
        <p:nvPicPr>
          <p:cNvPr id="42" name="图片 4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8CE0EC1-1A2D-8B70-5F2E-73E633CB1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726" y="911288"/>
            <a:ext cx="3733382" cy="2239536"/>
          </a:xfrm>
          <a:prstGeom prst="rect">
            <a:avLst/>
          </a:prstGeom>
        </p:spPr>
      </p:pic>
      <p:pic>
        <p:nvPicPr>
          <p:cNvPr id="46" name="图片 4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E9878E9-42CE-8E07-63B8-13CF8EB5B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667" y="3651176"/>
            <a:ext cx="3771908" cy="2699096"/>
          </a:xfrm>
          <a:prstGeom prst="rect">
            <a:avLst/>
          </a:prstGeom>
        </p:spPr>
      </p:pic>
      <p:sp>
        <p:nvSpPr>
          <p:cNvPr id="47" name="圆角矩形 46">
            <a:extLst>
              <a:ext uri="{FF2B5EF4-FFF2-40B4-BE49-F238E27FC236}">
                <a16:creationId xmlns:a16="http://schemas.microsoft.com/office/drawing/2014/main" id="{748C1DC5-E050-6A20-2FA5-5C971629FBA6}"/>
              </a:ext>
            </a:extLst>
          </p:cNvPr>
          <p:cNvSpPr>
            <a:spLocks noGrp="1"/>
          </p:cNvSpPr>
          <p:nvPr/>
        </p:nvSpPr>
        <p:spPr>
          <a:xfrm>
            <a:off x="3050899" y="3893774"/>
            <a:ext cx="2476501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5CADDD7-4FA5-57F5-D0C5-0DCFF984ED5A}"/>
              </a:ext>
            </a:extLst>
          </p:cNvPr>
          <p:cNvSpPr>
            <a:spLocks noGrp="1"/>
          </p:cNvSpPr>
          <p:nvPr/>
        </p:nvSpPr>
        <p:spPr>
          <a:xfrm>
            <a:off x="3050899" y="3893774"/>
            <a:ext cx="2476501" cy="66675"/>
          </a:xfrm>
          <a:prstGeom prst="rect">
            <a:avLst/>
          </a:prstGeom>
          <a:solidFill>
            <a:srgbClr val="FFC000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309569A-C9E5-D9E9-08A9-914A04F6A4AD}"/>
              </a:ext>
            </a:extLst>
          </p:cNvPr>
          <p:cNvSpPr>
            <a:spLocks noGrp="1"/>
          </p:cNvSpPr>
          <p:nvPr/>
        </p:nvSpPr>
        <p:spPr>
          <a:xfrm>
            <a:off x="3237151" y="4084274"/>
            <a:ext cx="2037668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b="1" dirty="0">
                <a:solidFill>
                  <a:srgbClr val="FFC000"/>
                </a:solidFill>
                <a:latin typeface="PingFang SC"/>
                <a:ea typeface="PingFang SC"/>
                <a:cs typeface="PingFang SC"/>
              </a:rPr>
              <a:t>学习留痕</a:t>
            </a:r>
            <a:endParaRPr sz="1875" b="1" dirty="0">
              <a:solidFill>
                <a:srgbClr val="FFC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003FA0-7B72-58D9-4B6B-D31DBAAD4152}"/>
              </a:ext>
            </a:extLst>
          </p:cNvPr>
          <p:cNvSpPr>
            <a:spLocks noGrp="1"/>
          </p:cNvSpPr>
          <p:nvPr/>
        </p:nvSpPr>
        <p:spPr>
          <a:xfrm>
            <a:off x="3237151" y="4389074"/>
            <a:ext cx="2037668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90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资源推荐与长期培养</a:t>
            </a:r>
            <a:endParaRPr sz="900" b="1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6173000-B799-71E3-6D99-32F58703CFA4}"/>
              </a:ext>
            </a:extLst>
          </p:cNvPr>
          <p:cNvSpPr>
            <a:spLocks noGrp="1"/>
          </p:cNvSpPr>
          <p:nvPr/>
        </p:nvSpPr>
        <p:spPr>
          <a:xfrm>
            <a:off x="3237151" y="4560524"/>
            <a:ext cx="2037668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73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知识积累 ｜ 个性推荐 ｜ 成长可见</a:t>
            </a:r>
            <a:endParaRPr sz="773" b="0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8E1BB4-18BB-0023-3A4B-3A180E1F25E7}"/>
              </a:ext>
            </a:extLst>
          </p:cNvPr>
          <p:cNvSpPr>
            <a:spLocks noGrp="1"/>
          </p:cNvSpPr>
          <p:nvPr/>
        </p:nvSpPr>
        <p:spPr>
          <a:xfrm>
            <a:off x="7333370" y="3418970"/>
            <a:ext cx="4000501" cy="121685"/>
          </a:xfrm>
          <a:prstGeom prst="rect">
            <a:avLst/>
          </a:prstGeom>
          <a:solidFill>
            <a:srgbClr val="00B050"/>
          </a:solidFill>
          <a:ln w="0">
            <a:solidFill>
              <a:srgbClr val="4285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229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 45">
            <a:extLst>
              <a:ext uri="{FF2B5EF4-FFF2-40B4-BE49-F238E27FC236}">
                <a16:creationId xmlns:a16="http://schemas.microsoft.com/office/drawing/2014/main" id="{28CB3904-E36D-476F-A8C7-AC3E0DCF45CD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E4C2674-0486-4CED-8D18-FEF0583DEC1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1BCF8-BCF8-4753-A697-FF346DB0F27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26DDADD-51AC-4B9F-9D84-38A642A7E29D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5CFC8E-B799-4483-AD7E-81231F11DDC5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  <a:endParaRPr sz="900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437747-BCE1-46A9-A602-5926767C278A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问题定义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5C17DA-27B1-4F2E-AEDC-8146CA17933E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0203B6-F462-4D27-8249-F7953051A7A6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问题不是“不会编程”，而是反馈链路断裂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F8A346-8748-4F8B-81A9-475CF144BC97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编程入门阶段，学生需要的是可理解、可追踪、可被教师接管的学习支架。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295B8A6-573B-4B09-AF12-90D246DC321C}"/>
              </a:ext>
            </a:extLst>
          </p:cNvPr>
          <p:cNvSpPr>
            <a:spLocks noGrp="1"/>
          </p:cNvSpPr>
          <p:nvPr/>
        </p:nvSpPr>
        <p:spPr>
          <a:xfrm>
            <a:off x="542926" y="1889208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828DC2-C958-4291-876D-358F23506CB2}"/>
              </a:ext>
            </a:extLst>
          </p:cNvPr>
          <p:cNvSpPr>
            <a:spLocks noGrp="1"/>
          </p:cNvSpPr>
          <p:nvPr/>
        </p:nvSpPr>
        <p:spPr>
          <a:xfrm>
            <a:off x="542926" y="1889208"/>
            <a:ext cx="27051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6BBA1A-4BF7-4BEF-BE24-CE468056DAF2}"/>
              </a:ext>
            </a:extLst>
          </p:cNvPr>
          <p:cNvSpPr>
            <a:spLocks noGrp="1"/>
          </p:cNvSpPr>
          <p:nvPr/>
        </p:nvSpPr>
        <p:spPr>
          <a:xfrm>
            <a:off x="733426" y="2117808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报错不可读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8B786B-6700-4346-A557-A1250C95FAD2}"/>
              </a:ext>
            </a:extLst>
          </p:cNvPr>
          <p:cNvSpPr>
            <a:spLocks noGrp="1"/>
          </p:cNvSpPr>
          <p:nvPr/>
        </p:nvSpPr>
        <p:spPr>
          <a:xfrm>
            <a:off x="733426" y="2460708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原始错误面向程序员，学生难以判断含义、位置和修改顺序。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034CDD1-3F2A-465B-B1E9-78421034A0EE}"/>
              </a:ext>
            </a:extLst>
          </p:cNvPr>
          <p:cNvSpPr>
            <a:spLocks noGrp="1"/>
          </p:cNvSpPr>
          <p:nvPr/>
        </p:nvSpPr>
        <p:spPr>
          <a:xfrm>
            <a:off x="3981450" y="1889208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E3A8E6-EBC0-44F3-B287-F84E51DFC597}"/>
              </a:ext>
            </a:extLst>
          </p:cNvPr>
          <p:cNvSpPr>
            <a:spLocks noGrp="1"/>
          </p:cNvSpPr>
          <p:nvPr/>
        </p:nvSpPr>
        <p:spPr>
          <a:xfrm>
            <a:off x="3981450" y="1889208"/>
            <a:ext cx="27051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114EA5-5428-4364-9823-7C6017F03C29}"/>
              </a:ext>
            </a:extLst>
          </p:cNvPr>
          <p:cNvSpPr>
            <a:spLocks noGrp="1"/>
          </p:cNvSpPr>
          <p:nvPr/>
        </p:nvSpPr>
        <p:spPr>
          <a:xfrm>
            <a:off x="4171950" y="2117808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任务难拆解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0B6BDA-4686-4CB4-9936-820D4347F4CE}"/>
              </a:ext>
            </a:extLst>
          </p:cNvPr>
          <p:cNvSpPr>
            <a:spLocks noGrp="1"/>
          </p:cNvSpPr>
          <p:nvPr/>
        </p:nvSpPr>
        <p:spPr>
          <a:xfrm>
            <a:off x="4171950" y="2460708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综合任务常混合输入分析、数据处理、条件判断、循环组织和输出格式。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5324F56-F838-46B2-84DF-95CFCC7A1883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C3E2CA-AA6D-4DD2-ACB3-D4D9D8022AB2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27051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74267C-D7EB-48A6-9E76-0046AA409DEC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反馈不及时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BC61C0-28E3-427B-B6F7-626E7D21EB91}"/>
              </a:ext>
            </a:extLst>
          </p:cNvPr>
          <p:cNvSpPr>
            <a:spLocks noGrp="1"/>
          </p:cNvSpPr>
          <p:nvPr/>
        </p:nvSpPr>
        <p:spPr>
          <a:xfrm>
            <a:off x="742950" y="478155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课堂时间有限，教师很难持续观察每个学生的卡点和尝试过程。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08BAA2C-DDF8-44A5-B36E-95F812B616D4}"/>
              </a:ext>
            </a:extLst>
          </p:cNvPr>
          <p:cNvSpPr>
            <a:spLocks noGrp="1"/>
          </p:cNvSpPr>
          <p:nvPr/>
        </p:nvSpPr>
        <p:spPr>
          <a:xfrm>
            <a:off x="3990974" y="4210050"/>
            <a:ext cx="2705100" cy="1295400"/>
          </a:xfrm>
          <a:prstGeom prst="roundRect">
            <a:avLst>
              <a:gd name="adj" fmla="val 5882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A77BC-2F26-413B-8264-40D982B5FAD3}"/>
              </a:ext>
            </a:extLst>
          </p:cNvPr>
          <p:cNvSpPr>
            <a:spLocks noGrp="1"/>
          </p:cNvSpPr>
          <p:nvPr/>
        </p:nvSpPr>
        <p:spPr>
          <a:xfrm>
            <a:off x="3990974" y="4210050"/>
            <a:ext cx="27051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28A795-FFC3-4BF0-B28F-8D036313978F}"/>
              </a:ext>
            </a:extLst>
          </p:cNvPr>
          <p:cNvSpPr>
            <a:spLocks noGrp="1"/>
          </p:cNvSpPr>
          <p:nvPr/>
        </p:nvSpPr>
        <p:spPr>
          <a:xfrm>
            <a:off x="4181474" y="443865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过程难沉淀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39322A-9C47-458F-BFBF-F371E69E5502}"/>
              </a:ext>
            </a:extLst>
          </p:cNvPr>
          <p:cNvSpPr>
            <a:spLocks noGrp="1"/>
          </p:cNvSpPr>
          <p:nvPr/>
        </p:nvSpPr>
        <p:spPr>
          <a:xfrm>
            <a:off x="4181474" y="4781550"/>
            <a:ext cx="226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学生一次次运行代码，但错误类型、输入输出和修正路径缺少结构化记录。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5F6D9D5-73A4-4F2C-906A-1043C5BE0A30}"/>
              </a:ext>
            </a:extLst>
          </p:cNvPr>
          <p:cNvSpPr>
            <a:spLocks noGrp="1"/>
          </p:cNvSpPr>
          <p:nvPr/>
        </p:nvSpPr>
        <p:spPr>
          <a:xfrm>
            <a:off x="7296150" y="1543050"/>
            <a:ext cx="42291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1B6E70-67C6-4B3A-BA14-085D4AD47466}"/>
              </a:ext>
            </a:extLst>
          </p:cNvPr>
          <p:cNvSpPr>
            <a:spLocks noGrp="1"/>
          </p:cNvSpPr>
          <p:nvPr/>
        </p:nvSpPr>
        <p:spPr>
          <a:xfrm>
            <a:off x="7562850" y="1828800"/>
            <a:ext cx="27622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需要补齐的教学反馈链路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08AE3E3-29F9-4B70-8195-2185797706EC}"/>
              </a:ext>
            </a:extLst>
          </p:cNvPr>
          <p:cNvSpPr>
            <a:spLocks noGrp="1"/>
          </p:cNvSpPr>
          <p:nvPr/>
        </p:nvSpPr>
        <p:spPr>
          <a:xfrm>
            <a:off x="7696200" y="230505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AEE179-AA5A-4523-83E1-BCDA3DB737B1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写代码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61B616-C56D-4976-BE2B-FE3362114353}"/>
              </a:ext>
            </a:extLst>
          </p:cNvPr>
          <p:cNvSpPr>
            <a:spLocks noGrp="1"/>
          </p:cNvSpPr>
          <p:nvPr/>
        </p:nvSpPr>
        <p:spPr>
          <a:xfrm>
            <a:off x="9029700" y="237172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学生真实尝试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BA5AD2A-DD81-41A9-A1A5-6E6159D03FDE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02265DA-D7DE-466E-8A92-52EB43B0E5BA}"/>
              </a:ext>
            </a:extLst>
          </p:cNvPr>
          <p:cNvSpPr>
            <a:spLocks noGrp="1"/>
          </p:cNvSpPr>
          <p:nvPr/>
        </p:nvSpPr>
        <p:spPr>
          <a:xfrm>
            <a:off x="7696200" y="28575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D60FB6-6998-44DC-A5A7-07DF0A56DA55}"/>
              </a:ext>
            </a:extLst>
          </p:cNvPr>
          <p:cNvSpPr>
            <a:spLocks noGrp="1"/>
          </p:cNvSpPr>
          <p:nvPr/>
        </p:nvSpPr>
        <p:spPr>
          <a:xfrm>
            <a:off x="7810500" y="293370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遇到卡点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A53C8D-20D2-48B9-A792-0F5C285E2716}"/>
              </a:ext>
            </a:extLst>
          </p:cNvPr>
          <p:cNvSpPr>
            <a:spLocks noGrp="1"/>
          </p:cNvSpPr>
          <p:nvPr/>
        </p:nvSpPr>
        <p:spPr>
          <a:xfrm>
            <a:off x="9029700" y="292417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错误 / 题意 / 思路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337B235-AF68-43EC-ACEA-2971656A112D}"/>
              </a:ext>
            </a:extLst>
          </p:cNvPr>
          <p:cNvSpPr>
            <a:spLocks noGrp="1"/>
          </p:cNvSpPr>
          <p:nvPr/>
        </p:nvSpPr>
        <p:spPr>
          <a:xfrm>
            <a:off x="8134350" y="321945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EB5D588-1907-4AEE-9D39-30DB114EC3A7}"/>
              </a:ext>
            </a:extLst>
          </p:cNvPr>
          <p:cNvSpPr>
            <a:spLocks noGrp="1"/>
          </p:cNvSpPr>
          <p:nvPr/>
        </p:nvSpPr>
        <p:spPr>
          <a:xfrm>
            <a:off x="7696200" y="340995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BE5A8D4-A348-4739-9EEA-97B8A8D1D10C}"/>
              </a:ext>
            </a:extLst>
          </p:cNvPr>
          <p:cNvSpPr>
            <a:spLocks noGrp="1"/>
          </p:cNvSpPr>
          <p:nvPr/>
        </p:nvSpPr>
        <p:spPr>
          <a:xfrm>
            <a:off x="7810500" y="348615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分层提示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BCBFE7-C2E0-40B3-B327-CFE880B1F4E9}"/>
              </a:ext>
            </a:extLst>
          </p:cNvPr>
          <p:cNvSpPr>
            <a:spLocks noGrp="1"/>
          </p:cNvSpPr>
          <p:nvPr/>
        </p:nvSpPr>
        <p:spPr>
          <a:xfrm>
            <a:off x="9029700" y="347662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先解释，再引导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AB568D-99B9-4A09-B9D5-75CA9EE8F2AA}"/>
              </a:ext>
            </a:extLst>
          </p:cNvPr>
          <p:cNvSpPr>
            <a:spLocks noGrp="1"/>
          </p:cNvSpPr>
          <p:nvPr/>
        </p:nvSpPr>
        <p:spPr>
          <a:xfrm>
            <a:off x="8134350" y="3771900"/>
            <a:ext cx="2095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7E37253-9892-48FA-97EE-0B86A3B8EEC8}"/>
              </a:ext>
            </a:extLst>
          </p:cNvPr>
          <p:cNvSpPr>
            <a:spLocks noGrp="1"/>
          </p:cNvSpPr>
          <p:nvPr/>
        </p:nvSpPr>
        <p:spPr>
          <a:xfrm>
            <a:off x="7696200" y="39624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53D7B46-3C0A-44CE-8059-9FBAA88280EE}"/>
              </a:ext>
            </a:extLst>
          </p:cNvPr>
          <p:cNvSpPr>
            <a:spLocks noGrp="1"/>
          </p:cNvSpPr>
          <p:nvPr/>
        </p:nvSpPr>
        <p:spPr>
          <a:xfrm>
            <a:off x="7810500" y="4038600"/>
            <a:ext cx="838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过程留痕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E902A91-4044-48A5-9525-DAC8D585AFB7}"/>
              </a:ext>
            </a:extLst>
          </p:cNvPr>
          <p:cNvSpPr>
            <a:spLocks noGrp="1"/>
          </p:cNvSpPr>
          <p:nvPr/>
        </p:nvSpPr>
        <p:spPr>
          <a:xfrm>
            <a:off x="9029700" y="4029075"/>
            <a:ext cx="2000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供教师观察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EEE5BA4-5BB2-4411-A092-C393295BE0AD}"/>
              </a:ext>
            </a:extLst>
          </p:cNvPr>
          <p:cNvSpPr>
            <a:spLocks noGrp="1"/>
          </p:cNvSpPr>
          <p:nvPr/>
        </p:nvSpPr>
        <p:spPr>
          <a:xfrm>
            <a:off x="7296150" y="4991100"/>
            <a:ext cx="4229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7A6DBF2-270E-42AA-A36B-4E3E39E4B23E}"/>
              </a:ext>
            </a:extLst>
          </p:cNvPr>
          <p:cNvSpPr>
            <a:spLocks noGrp="1"/>
          </p:cNvSpPr>
          <p:nvPr/>
        </p:nvSpPr>
        <p:spPr>
          <a:xfrm>
            <a:off x="7562850" y="5181600"/>
            <a:ext cx="12573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本设计的切入点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5E3665-20F7-461F-9B78-6ADEAEB46C2F}"/>
              </a:ext>
            </a:extLst>
          </p:cNvPr>
          <p:cNvSpPr>
            <a:spLocks noGrp="1"/>
          </p:cNvSpPr>
          <p:nvPr/>
        </p:nvSpPr>
        <p:spPr>
          <a:xfrm>
            <a:off x="7562850" y="5429250"/>
            <a:ext cx="34290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把大模型能力放进学习流程，而不是让学生离开平台单独向模型提问。</a:t>
            </a:r>
          </a:p>
        </p:txBody>
      </p:sp>
    </p:spTree>
    <p:extLst>
      <p:ext uri="{BB962C8B-B14F-4D97-AF65-F5344CB8AC3E}">
        <p14:creationId xmlns:p14="http://schemas.microsoft.com/office/powerpoint/2010/main" val="176226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>
            <a:extLst>
              <a:ext uri="{FF2B5EF4-FFF2-40B4-BE49-F238E27FC236}">
                <a16:creationId xmlns:a16="http://schemas.microsoft.com/office/drawing/2014/main" id="{E7DBB2C0-09A4-4651-8E2A-D173D1484C6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AA822F0-226D-4E89-AE53-A9B299B56CD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CA7F5F-EFE0-439A-B205-2944371033F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6B77F66-47F4-405E-8B12-E6946B4B8C29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5B2A88-CF86-4E29-B6E8-D0E50DCE2BF8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EA1BA8-8760-486F-B6FD-F6335898F9E7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目标与边界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895DD6-7013-4F16-AB2D-5087BBBD14E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C55CF4-9DBA-416B-BF09-5E1067CE2F29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设计目标：让 AI 成为学习支架，而不是答案替代品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913897-16E8-4FD1-898A-22E705F3387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平台强调“学生动手、系统记录、模型辅助、教师干预”的边界。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BE29A9C-C3D2-4BA5-8EA6-C1CD22441BEE}"/>
              </a:ext>
            </a:extLst>
          </p:cNvPr>
          <p:cNvSpPr>
            <a:spLocks noGrp="1"/>
          </p:cNvSpPr>
          <p:nvPr/>
        </p:nvSpPr>
        <p:spPr>
          <a:xfrm>
            <a:off x="514350" y="1762125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FACB60-488D-407D-918E-C08D8D3E9F55}"/>
              </a:ext>
            </a:extLst>
          </p:cNvPr>
          <p:cNvSpPr>
            <a:spLocks noGrp="1"/>
          </p:cNvSpPr>
          <p:nvPr/>
        </p:nvSpPr>
        <p:spPr>
          <a:xfrm>
            <a:off x="514350" y="1762125"/>
            <a:ext cx="49530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D4B92A-F019-4FA3-8906-AA08BB5C1015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952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核心主张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E61E9A-A4E9-4467-8B2E-0C8447626D4F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191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学生仍动手写代码；平台负责组织流程与记录；模型只在卡点处提供支架；教师保留观察和干预。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AE636D-DE67-468F-91A9-4F4C26F1BB6F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这保证了平台的教育属性，而不是把学习过程简化为“问模型拿答案”。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BAABDAC-1A0C-40D0-8F8C-517DBD89D1D1}"/>
              </a:ext>
            </a:extLst>
          </p:cNvPr>
          <p:cNvSpPr>
            <a:spLocks noGrp="1"/>
          </p:cNvSpPr>
          <p:nvPr/>
        </p:nvSpPr>
        <p:spPr>
          <a:xfrm>
            <a:off x="6634414" y="140819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A12FF1-1760-4AE9-92ED-3EAA4424AFB9}"/>
              </a:ext>
            </a:extLst>
          </p:cNvPr>
          <p:cNvSpPr>
            <a:spLocks noGrp="1"/>
          </p:cNvSpPr>
          <p:nvPr/>
        </p:nvSpPr>
        <p:spPr>
          <a:xfrm>
            <a:off x="6634414" y="1408196"/>
            <a:ext cx="17907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31ADCC-B8A6-4147-905D-71C852257DE8}"/>
              </a:ext>
            </a:extLst>
          </p:cNvPr>
          <p:cNvSpPr>
            <a:spLocks noGrp="1"/>
          </p:cNvSpPr>
          <p:nvPr/>
        </p:nvSpPr>
        <p:spPr>
          <a:xfrm>
            <a:off x="6805864" y="162727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自由问答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7C784B4-55CC-4951-B521-9CA5361179D6}"/>
              </a:ext>
            </a:extLst>
          </p:cNvPr>
          <p:cNvSpPr>
            <a:spLocks noGrp="1"/>
          </p:cNvSpPr>
          <p:nvPr/>
        </p:nvSpPr>
        <p:spPr>
          <a:xfrm>
            <a:off x="8710864" y="140819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E9AA88-6283-4171-A1DD-C561C3CF6FAF}"/>
              </a:ext>
            </a:extLst>
          </p:cNvPr>
          <p:cNvSpPr>
            <a:spLocks noGrp="1"/>
          </p:cNvSpPr>
          <p:nvPr/>
        </p:nvSpPr>
        <p:spPr>
          <a:xfrm>
            <a:off x="8710864" y="1408196"/>
            <a:ext cx="17907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F1BBE8-1F29-420F-A5D0-83C3548160DE}"/>
              </a:ext>
            </a:extLst>
          </p:cNvPr>
          <p:cNvSpPr>
            <a:spLocks noGrp="1"/>
          </p:cNvSpPr>
          <p:nvPr/>
        </p:nvSpPr>
        <p:spPr>
          <a:xfrm>
            <a:off x="8882314" y="162727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代码解释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8CD8CCF-5974-4926-8148-D98D2721933F}"/>
              </a:ext>
            </a:extLst>
          </p:cNvPr>
          <p:cNvSpPr>
            <a:spLocks noGrp="1"/>
          </p:cNvSpPr>
          <p:nvPr/>
        </p:nvSpPr>
        <p:spPr>
          <a:xfrm>
            <a:off x="6634414" y="218924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A6EBFB-FD7B-42F4-872D-DABCDF90603F}"/>
              </a:ext>
            </a:extLst>
          </p:cNvPr>
          <p:cNvSpPr>
            <a:spLocks noGrp="1"/>
          </p:cNvSpPr>
          <p:nvPr/>
        </p:nvSpPr>
        <p:spPr>
          <a:xfrm>
            <a:off x="6634414" y="2189246"/>
            <a:ext cx="17907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297828-35B2-4E20-BA8C-627CC67D79AD}"/>
              </a:ext>
            </a:extLst>
          </p:cNvPr>
          <p:cNvSpPr>
            <a:spLocks noGrp="1"/>
          </p:cNvSpPr>
          <p:nvPr/>
        </p:nvSpPr>
        <p:spPr>
          <a:xfrm>
            <a:off x="6805864" y="240832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报错解析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D2B189D-68F3-49A2-BFDF-E4E64A138F27}"/>
              </a:ext>
            </a:extLst>
          </p:cNvPr>
          <p:cNvSpPr>
            <a:spLocks noGrp="1"/>
          </p:cNvSpPr>
          <p:nvPr/>
        </p:nvSpPr>
        <p:spPr>
          <a:xfrm>
            <a:off x="8710864" y="218924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B57D33-F9D2-478D-85A3-27F6719B9809}"/>
              </a:ext>
            </a:extLst>
          </p:cNvPr>
          <p:cNvSpPr>
            <a:spLocks noGrp="1"/>
          </p:cNvSpPr>
          <p:nvPr/>
        </p:nvSpPr>
        <p:spPr>
          <a:xfrm>
            <a:off x="8710864" y="2189246"/>
            <a:ext cx="17907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A6364D-EF23-4413-8F2E-EEC1B5A458F3}"/>
              </a:ext>
            </a:extLst>
          </p:cNvPr>
          <p:cNvSpPr>
            <a:spLocks noGrp="1"/>
          </p:cNvSpPr>
          <p:nvPr/>
        </p:nvSpPr>
        <p:spPr>
          <a:xfrm>
            <a:off x="8882314" y="240832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问题分解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CEC42DA-5372-4DE1-A1DF-29FCCAAC6268}"/>
              </a:ext>
            </a:extLst>
          </p:cNvPr>
          <p:cNvSpPr>
            <a:spLocks noGrp="1"/>
          </p:cNvSpPr>
          <p:nvPr/>
        </p:nvSpPr>
        <p:spPr>
          <a:xfrm>
            <a:off x="6634414" y="297029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35A2FB-FEFD-4049-B49E-7562ABFA5C5A}"/>
              </a:ext>
            </a:extLst>
          </p:cNvPr>
          <p:cNvSpPr>
            <a:spLocks noGrp="1"/>
          </p:cNvSpPr>
          <p:nvPr/>
        </p:nvSpPr>
        <p:spPr>
          <a:xfrm>
            <a:off x="6634414" y="2970296"/>
            <a:ext cx="17907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AA978C-C1FF-43EC-8547-5D000BA21B75}"/>
              </a:ext>
            </a:extLst>
          </p:cNvPr>
          <p:cNvSpPr>
            <a:spLocks noGrp="1"/>
          </p:cNvSpPr>
          <p:nvPr/>
        </p:nvSpPr>
        <p:spPr>
          <a:xfrm>
            <a:off x="6805864" y="318937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抽象建模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0EE1583-F2CE-448C-8633-F786A244D121}"/>
              </a:ext>
            </a:extLst>
          </p:cNvPr>
          <p:cNvSpPr>
            <a:spLocks noGrp="1"/>
          </p:cNvSpPr>
          <p:nvPr/>
        </p:nvSpPr>
        <p:spPr>
          <a:xfrm>
            <a:off x="8710864" y="2970296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EB2133C-D7D9-4D00-87AC-63540DB92431}"/>
              </a:ext>
            </a:extLst>
          </p:cNvPr>
          <p:cNvSpPr>
            <a:spLocks noGrp="1"/>
          </p:cNvSpPr>
          <p:nvPr/>
        </p:nvSpPr>
        <p:spPr>
          <a:xfrm>
            <a:off x="8710864" y="2970296"/>
            <a:ext cx="17907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1AAFF4-B596-4DFE-B4BB-A9D5E90BBC83}"/>
              </a:ext>
            </a:extLst>
          </p:cNvPr>
          <p:cNvSpPr>
            <a:spLocks noGrp="1"/>
          </p:cNvSpPr>
          <p:nvPr/>
        </p:nvSpPr>
        <p:spPr>
          <a:xfrm>
            <a:off x="8882314" y="3189371"/>
            <a:ext cx="1219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算法设计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6FBD5E-3A61-4A55-AF73-E2F00E531F95}"/>
              </a:ext>
            </a:extLst>
          </p:cNvPr>
          <p:cNvSpPr>
            <a:spLocks noGrp="1"/>
          </p:cNvSpPr>
          <p:nvPr/>
        </p:nvSpPr>
        <p:spPr>
          <a:xfrm>
            <a:off x="8025064" y="3808495"/>
            <a:ext cx="1151774" cy="2286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六类大模型辅学能力</a:t>
            </a:r>
            <a:endParaRPr sz="975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65DB251-52F6-4C3C-89B5-F56C6F83E987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5A6FAC-8A84-4D2A-A56C-811D735DCE7A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23050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8F66FB-77F1-4547-A828-11B1B4E9186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循序提示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72DD6B-6440-4A0A-AA01-05CCE6EF80F5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先解释问题，再给方向，避免直接倾倒完整答案。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B34145B-812E-4A1A-9DF1-8F73E47A1A70}"/>
              </a:ext>
            </a:extLst>
          </p:cNvPr>
          <p:cNvSpPr>
            <a:spLocks noGrp="1"/>
          </p:cNvSpPr>
          <p:nvPr/>
        </p:nvSpPr>
        <p:spPr>
          <a:xfrm>
            <a:off x="3228975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73590D-CC09-4373-AA54-2F3035C85285}"/>
              </a:ext>
            </a:extLst>
          </p:cNvPr>
          <p:cNvSpPr>
            <a:spLocks noGrp="1"/>
          </p:cNvSpPr>
          <p:nvPr/>
        </p:nvSpPr>
        <p:spPr>
          <a:xfrm>
            <a:off x="3228975" y="4457700"/>
            <a:ext cx="23050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381A675-6BBE-453F-8D0A-2D4B7D2C4DF8}"/>
              </a:ext>
            </a:extLst>
          </p:cNvPr>
          <p:cNvSpPr>
            <a:spLocks noGrp="1"/>
          </p:cNvSpPr>
          <p:nvPr/>
        </p:nvSpPr>
        <p:spPr>
          <a:xfrm>
            <a:off x="3400425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适龄表达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0281CAC-87F5-473E-BBAB-CAD9CB0B0DE7}"/>
              </a:ext>
            </a:extLst>
          </p:cNvPr>
          <p:cNvSpPr>
            <a:spLocks noGrp="1"/>
          </p:cNvSpPr>
          <p:nvPr/>
        </p:nvSpPr>
        <p:spPr>
          <a:xfrm>
            <a:off x="3400425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面向中小学生调整语气、粒度和示例复杂度。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2A5B307A-D14C-4A18-9792-16121F948AFF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7AF4736-A5BC-4460-8A0F-D4935A1BE3B5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23050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695A69-E542-43EB-9A4B-730CBF02EE3B}"/>
              </a:ext>
            </a:extLst>
          </p:cNvPr>
          <p:cNvSpPr>
            <a:spLocks noGrp="1"/>
          </p:cNvSpPr>
          <p:nvPr/>
        </p:nvSpPr>
        <p:spPr>
          <a:xfrm>
            <a:off x="6248400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可追踪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F20587E-9A06-4034-BD3F-03E0F4B50399}"/>
              </a:ext>
            </a:extLst>
          </p:cNvPr>
          <p:cNvSpPr>
            <a:spLocks noGrp="1"/>
          </p:cNvSpPr>
          <p:nvPr/>
        </p:nvSpPr>
        <p:spPr>
          <a:xfrm>
            <a:off x="6248400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辅学行为和代码运行可沉淀为学习记录。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37AD024C-1E18-484C-9A9C-E857DFB3FE3E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23050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593A837-3385-4E40-A7E1-954B9917E61E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23050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CED320-E736-4D64-8D43-576132CEE48A}"/>
              </a:ext>
            </a:extLst>
          </p:cNvPr>
          <p:cNvSpPr>
            <a:spLocks noGrp="1"/>
          </p:cNvSpPr>
          <p:nvPr/>
        </p:nvSpPr>
        <p:spPr>
          <a:xfrm>
            <a:off x="8963025" y="4667250"/>
            <a:ext cx="114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可管控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5CCC50D-1674-4302-8F4A-EBE303C99818}"/>
              </a:ext>
            </a:extLst>
          </p:cNvPr>
          <p:cNvSpPr>
            <a:spLocks noGrp="1"/>
          </p:cNvSpPr>
          <p:nvPr/>
        </p:nvSpPr>
        <p:spPr>
          <a:xfrm>
            <a:off x="8963025" y="4953000"/>
            <a:ext cx="18859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教师端保留课程、资源、任务和学生状态管理能力。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51273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>
            <a:extLst>
              <a:ext uri="{FF2B5EF4-FFF2-40B4-BE49-F238E27FC236}">
                <a16:creationId xmlns:a16="http://schemas.microsoft.com/office/drawing/2014/main" id="{DFD89804-08B9-49AB-829E-3D73A6631AC0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E1B19C9-6778-4DD2-808B-BA7355412CA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145DB38-A43A-4A13-B8BC-653DB2871D3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D7F11F4-AC67-4FA5-8110-7E86A72F15A7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96C8AF-73BA-49A9-97D9-EA46BA7E8C48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A41D1-60FB-4B47-85EB-7CF0D331AFFF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学习闭环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908A6D-077E-47D9-B216-F416F9A77E72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45C2E-B91B-40FE-8091-E17234ECC6AB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学习闭环：课程组织、编程实践、AI 辅助、教师干预连在一起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6D49B9-19BE-41F0-BC3F-3452EDEA4D8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闭环的关键是把“卡点”沉淀为可观察的数据，而不是一次性对话。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977A3B8-E74D-4742-B574-07D59B6B5BD8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80E796-CDBD-4CD2-8F0E-D349659E55E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09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214312-D2CC-43C9-A840-4ACEE5374430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323850" cy="3238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B28EC6-FE5D-4B0B-86E1-811D98C21B74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D4DC8F-C197-4F5C-B45B-9A88EDB5A2E9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D1CA19-F76D-476F-B0BF-4281C2A8C293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课程 / 知识点 / 任务 / 资源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730C49-D3E9-4B7D-B710-5486A5C45A45}"/>
              </a:ext>
            </a:extLst>
          </p:cNvPr>
          <p:cNvSpPr>
            <a:spLocks noGrp="1"/>
          </p:cNvSpPr>
          <p:nvPr/>
        </p:nvSpPr>
        <p:spPr>
          <a:xfrm>
            <a:off x="25241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99EEFA-1C12-4036-AE8A-1223468E54C1}"/>
              </a:ext>
            </a:extLst>
          </p:cNvPr>
          <p:cNvSpPr>
            <a:spLocks noGrp="1"/>
          </p:cNvSpPr>
          <p:nvPr/>
        </p:nvSpPr>
        <p:spPr>
          <a:xfrm>
            <a:off x="28765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748008-E63B-468A-B54B-541FFE3A0C2F}"/>
              </a:ext>
            </a:extLst>
          </p:cNvPr>
          <p:cNvSpPr>
            <a:spLocks noGrp="1"/>
          </p:cNvSpPr>
          <p:nvPr/>
        </p:nvSpPr>
        <p:spPr>
          <a:xfrm>
            <a:off x="2876550" y="1752600"/>
            <a:ext cx="18097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6B3349B-B6EC-459D-9B3D-C0CECD2BC50F}"/>
              </a:ext>
            </a:extLst>
          </p:cNvPr>
          <p:cNvSpPr>
            <a:spLocks noGrp="1"/>
          </p:cNvSpPr>
          <p:nvPr/>
        </p:nvSpPr>
        <p:spPr>
          <a:xfrm>
            <a:off x="3067050" y="2019300"/>
            <a:ext cx="323850" cy="32385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B0797F-E538-4FEA-BD21-6B3D52E31064}"/>
              </a:ext>
            </a:extLst>
          </p:cNvPr>
          <p:cNvSpPr>
            <a:spLocks noGrp="1"/>
          </p:cNvSpPr>
          <p:nvPr/>
        </p:nvSpPr>
        <p:spPr>
          <a:xfrm>
            <a:off x="30670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E3E6E6-867D-44E9-B74E-2016FA8D2F4D}"/>
              </a:ext>
            </a:extLst>
          </p:cNvPr>
          <p:cNvSpPr>
            <a:spLocks noGrp="1"/>
          </p:cNvSpPr>
          <p:nvPr/>
        </p:nvSpPr>
        <p:spPr>
          <a:xfrm>
            <a:off x="30670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学生实践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BE9F80-6948-469B-8606-95D4A3EEF678}"/>
              </a:ext>
            </a:extLst>
          </p:cNvPr>
          <p:cNvSpPr>
            <a:spLocks noGrp="1"/>
          </p:cNvSpPr>
          <p:nvPr/>
        </p:nvSpPr>
        <p:spPr>
          <a:xfrm>
            <a:off x="30670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在线写代码、运行、提交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864C09-B610-449F-8F39-9A3FC6C03753}"/>
              </a:ext>
            </a:extLst>
          </p:cNvPr>
          <p:cNvSpPr>
            <a:spLocks noGrp="1"/>
          </p:cNvSpPr>
          <p:nvPr/>
        </p:nvSpPr>
        <p:spPr>
          <a:xfrm>
            <a:off x="47339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502D79-6887-4132-A248-85D25864A5A5}"/>
              </a:ext>
            </a:extLst>
          </p:cNvPr>
          <p:cNvSpPr>
            <a:spLocks noGrp="1"/>
          </p:cNvSpPr>
          <p:nvPr/>
        </p:nvSpPr>
        <p:spPr>
          <a:xfrm>
            <a:off x="50863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EF3D82-3D8A-4128-B86C-362AF1D8D41A}"/>
              </a:ext>
            </a:extLst>
          </p:cNvPr>
          <p:cNvSpPr>
            <a:spLocks noGrp="1"/>
          </p:cNvSpPr>
          <p:nvPr/>
        </p:nvSpPr>
        <p:spPr>
          <a:xfrm>
            <a:off x="5086350" y="1752600"/>
            <a:ext cx="18097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A48F8C0-3063-49AC-BD96-A8EBB1E667F1}"/>
              </a:ext>
            </a:extLst>
          </p:cNvPr>
          <p:cNvSpPr>
            <a:spLocks noGrp="1"/>
          </p:cNvSpPr>
          <p:nvPr/>
        </p:nvSpPr>
        <p:spPr>
          <a:xfrm>
            <a:off x="5276850" y="2019300"/>
            <a:ext cx="323850" cy="32385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4C342C-7DBA-4312-AE88-E83AD736A111}"/>
              </a:ext>
            </a:extLst>
          </p:cNvPr>
          <p:cNvSpPr>
            <a:spLocks noGrp="1"/>
          </p:cNvSpPr>
          <p:nvPr/>
        </p:nvSpPr>
        <p:spPr>
          <a:xfrm>
            <a:off x="52768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12CA90-9631-49E6-8A4A-8B0E02A85A68}"/>
              </a:ext>
            </a:extLst>
          </p:cNvPr>
          <p:cNvSpPr>
            <a:spLocks noGrp="1"/>
          </p:cNvSpPr>
          <p:nvPr/>
        </p:nvSpPr>
        <p:spPr>
          <a:xfrm>
            <a:off x="52768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AI 支架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C5300E-3308-4E04-BD09-16739D149851}"/>
              </a:ext>
            </a:extLst>
          </p:cNvPr>
          <p:cNvSpPr>
            <a:spLocks noGrp="1"/>
          </p:cNvSpPr>
          <p:nvPr/>
        </p:nvSpPr>
        <p:spPr>
          <a:xfrm>
            <a:off x="52768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问答、解释、报错、分解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DF9210-D92C-4B6F-A2EA-17F382D34199}"/>
              </a:ext>
            </a:extLst>
          </p:cNvPr>
          <p:cNvSpPr>
            <a:spLocks noGrp="1"/>
          </p:cNvSpPr>
          <p:nvPr/>
        </p:nvSpPr>
        <p:spPr>
          <a:xfrm>
            <a:off x="69437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BBB83E6-D54B-4CA7-813D-C84B24D97542}"/>
              </a:ext>
            </a:extLst>
          </p:cNvPr>
          <p:cNvSpPr>
            <a:spLocks noGrp="1"/>
          </p:cNvSpPr>
          <p:nvPr/>
        </p:nvSpPr>
        <p:spPr>
          <a:xfrm>
            <a:off x="72961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1CBCD8-2A6C-4DA1-9148-25F519AEEFCF}"/>
              </a:ext>
            </a:extLst>
          </p:cNvPr>
          <p:cNvSpPr>
            <a:spLocks noGrp="1"/>
          </p:cNvSpPr>
          <p:nvPr/>
        </p:nvSpPr>
        <p:spPr>
          <a:xfrm>
            <a:off x="7296150" y="1752600"/>
            <a:ext cx="18097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6EABEDF-02E9-489D-9338-851F3400CC7F}"/>
              </a:ext>
            </a:extLst>
          </p:cNvPr>
          <p:cNvSpPr>
            <a:spLocks noGrp="1"/>
          </p:cNvSpPr>
          <p:nvPr/>
        </p:nvSpPr>
        <p:spPr>
          <a:xfrm>
            <a:off x="7486650" y="2019300"/>
            <a:ext cx="323850" cy="32385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CDE4CF-0676-4050-A056-2B5EB151983A}"/>
              </a:ext>
            </a:extLst>
          </p:cNvPr>
          <p:cNvSpPr>
            <a:spLocks noGrp="1"/>
          </p:cNvSpPr>
          <p:nvPr/>
        </p:nvSpPr>
        <p:spPr>
          <a:xfrm>
            <a:off x="74866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A48893-2470-49F3-937E-CD70A25D38F2}"/>
              </a:ext>
            </a:extLst>
          </p:cNvPr>
          <p:cNvSpPr>
            <a:spLocks noGrp="1"/>
          </p:cNvSpPr>
          <p:nvPr/>
        </p:nvSpPr>
        <p:spPr>
          <a:xfrm>
            <a:off x="74866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过程记录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CEF530-0332-4E4B-8DC6-316FE29E86F3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代码、输入输出、错误类型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0D1D10-4520-42C3-9818-BB2407003B6F}"/>
              </a:ext>
            </a:extLst>
          </p:cNvPr>
          <p:cNvSpPr>
            <a:spLocks noGrp="1"/>
          </p:cNvSpPr>
          <p:nvPr/>
        </p:nvSpPr>
        <p:spPr>
          <a:xfrm>
            <a:off x="9153525" y="2400300"/>
            <a:ext cx="285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823EB4D-90A9-4BDC-9CEF-66D4C57C01C2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7442AE0-C0CB-4104-B201-99B1BF93C5A0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1809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521022C-070B-4806-BCDA-6D9BF29D617D}"/>
              </a:ext>
            </a:extLst>
          </p:cNvPr>
          <p:cNvSpPr>
            <a:spLocks noGrp="1"/>
          </p:cNvSpPr>
          <p:nvPr/>
        </p:nvSpPr>
        <p:spPr>
          <a:xfrm>
            <a:off x="9696450" y="2019300"/>
            <a:ext cx="323850" cy="3238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58A03FB-6B28-43DC-B843-A398F02C6AF0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323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D1C6A93-CDBA-40BF-A1FF-CCFCD224333A}"/>
              </a:ext>
            </a:extLst>
          </p:cNvPr>
          <p:cNvSpPr>
            <a:spLocks noGrp="1"/>
          </p:cNvSpPr>
          <p:nvPr/>
        </p:nvSpPr>
        <p:spPr>
          <a:xfrm>
            <a:off x="9696450" y="2495550"/>
            <a:ext cx="1238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教师干预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2EAD16-35B4-43A0-84C1-B187A3D22576}"/>
              </a:ext>
            </a:extLst>
          </p:cNvPr>
          <p:cNvSpPr>
            <a:spLocks noGrp="1"/>
          </p:cNvSpPr>
          <p:nvPr/>
        </p:nvSpPr>
        <p:spPr>
          <a:xfrm>
            <a:off x="9696450" y="2857500"/>
            <a:ext cx="13144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查看记录、调整资源、答疑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5BFDF100-D35F-41E8-BE25-361C3F3D92EF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4629150" cy="1257300"/>
          </a:xfrm>
          <a:prstGeom prst="roundRect">
            <a:avLst>
              <a:gd name="adj" fmla="val 6061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9D80A0-F86F-49D6-A283-4339AB600ECA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952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学生视角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3D88C10-8949-4210-A0C4-4924FDD238BF}"/>
              </a:ext>
            </a:extLst>
          </p:cNvPr>
          <p:cNvSpPr>
            <a:spLocks noGrp="1"/>
          </p:cNvSpPr>
          <p:nvPr/>
        </p:nvSpPr>
        <p:spPr>
          <a:xfrm>
            <a:off x="1085850" y="4686300"/>
            <a:ext cx="38481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不离开平台完成练习，减少工具切换成本。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AI 给出分层提示，先帮助理解，再引导修改。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每次运行和错误都能成为后续复盘材料。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15E7689-0BBF-4EC6-87CA-186281D1A9D4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629150" cy="1257300"/>
          </a:xfrm>
          <a:prstGeom prst="roundRect">
            <a:avLst>
              <a:gd name="adj" fmla="val 6061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2739B48-89D9-4819-98D2-05593D5E01B9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952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教师视角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BC3546E-9F17-484B-8710-1283840B5E56}"/>
              </a:ext>
            </a:extLst>
          </p:cNvPr>
          <p:cNvSpPr>
            <a:spLocks noGrp="1"/>
          </p:cNvSpPr>
          <p:nvPr/>
        </p:nvSpPr>
        <p:spPr>
          <a:xfrm>
            <a:off x="6457950" y="4686300"/>
            <a:ext cx="38481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课程、资源与任务统一管理。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通过学习记录识别个体卡点和共性问题。</a:t>
            </a:r>
          </a:p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依据数据进行讲解、提醒或资源补充。</a:t>
            </a:r>
          </a:p>
        </p:txBody>
      </p:sp>
    </p:spTree>
    <p:extLst>
      <p:ext uri="{BB962C8B-B14F-4D97-AF65-F5344CB8AC3E}">
        <p14:creationId xmlns:p14="http://schemas.microsoft.com/office/powerpoint/2010/main" val="63153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>
            <a:extLst>
              <a:ext uri="{FF2B5EF4-FFF2-40B4-BE49-F238E27FC236}">
                <a16:creationId xmlns:a16="http://schemas.microsoft.com/office/drawing/2014/main" id="{221773A1-7EED-4EEB-B916-02121DF8625B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98751A7-4FD4-4BDD-834A-67860356C1E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92A8CBB-9A59-4156-996A-FD7AA00C179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53A582F-BA39-44C6-97D3-8A90BA68BFF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2B9B05-C94E-4467-B43B-FD248D117D7D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ED0A04-BEDC-4088-8380-9F4E965D905B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总体架构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5BEF93-EB3B-4590-B49B-56BD0FCF2D5D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E17D3-8C3E-4511-9493-8D9081EEF5B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总体架构：前后端分离，AI 与代码执行通过受控接口接入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B7F87C-CAFC-4E99-BB4B-D94992232930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架构重点是边界清晰：业务服务、模型服务、浏览器端执行环境和数据层各自承担职责。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1B74D05-8F04-45A6-A160-41E85BBEEAB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800600" cy="436245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7A8F2C-FA89-410A-A6CE-B6D6F5C105B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8006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6874" y="1562100"/>
            <a:ext cx="2995553" cy="41148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83133B0E-0C1E-447A-97E9-1A9B4996B3C3}"/>
              </a:ext>
            </a:extLst>
          </p:cNvPr>
          <p:cNvSpPr>
            <a:spLocks noGrp="1"/>
          </p:cNvSpPr>
          <p:nvPr/>
        </p:nvSpPr>
        <p:spPr>
          <a:xfrm>
            <a:off x="6217474" y="1426745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73045B-180E-4726-99D5-D2847CC917A5}"/>
              </a:ext>
            </a:extLst>
          </p:cNvPr>
          <p:cNvSpPr>
            <a:spLocks noGrp="1"/>
          </p:cNvSpPr>
          <p:nvPr/>
        </p:nvSpPr>
        <p:spPr>
          <a:xfrm>
            <a:off x="6217474" y="1426745"/>
            <a:ext cx="49530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06FBBF-C267-4D54-8087-EE9D69DDE796}"/>
              </a:ext>
            </a:extLst>
          </p:cNvPr>
          <p:cNvSpPr>
            <a:spLocks noGrp="1"/>
          </p:cNvSpPr>
          <p:nvPr/>
        </p:nvSpPr>
        <p:spPr>
          <a:xfrm>
            <a:off x="6465124" y="1617245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前端交互层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62F15F-C5A2-45A0-A61C-87304EBF386B}"/>
              </a:ext>
            </a:extLst>
          </p:cNvPr>
          <p:cNvSpPr>
            <a:spLocks noGrp="1"/>
          </p:cNvSpPr>
          <p:nvPr/>
        </p:nvSpPr>
        <p:spPr>
          <a:xfrm>
            <a:off x="7855774" y="1617245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Nuxt 3 / Vue 3 / TypeScript / Tailwind CSS / DaisyUI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B765A7-2164-4F8F-B227-972A06873E2A}"/>
              </a:ext>
            </a:extLst>
          </p:cNvPr>
          <p:cNvSpPr>
            <a:spLocks noGrp="1"/>
          </p:cNvSpPr>
          <p:nvPr/>
        </p:nvSpPr>
        <p:spPr>
          <a:xfrm>
            <a:off x="6217474" y="2322095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8F8DE2-C802-469A-8CCB-8DD8D1104DE4}"/>
              </a:ext>
            </a:extLst>
          </p:cNvPr>
          <p:cNvSpPr>
            <a:spLocks noGrp="1"/>
          </p:cNvSpPr>
          <p:nvPr/>
        </p:nvSpPr>
        <p:spPr>
          <a:xfrm>
            <a:off x="6217474" y="2322095"/>
            <a:ext cx="49530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08DE5F-83F0-4B97-A366-134E891FEB96}"/>
              </a:ext>
            </a:extLst>
          </p:cNvPr>
          <p:cNvSpPr>
            <a:spLocks noGrp="1"/>
          </p:cNvSpPr>
          <p:nvPr/>
        </p:nvSpPr>
        <p:spPr>
          <a:xfrm>
            <a:off x="6465124" y="2512595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后端业务层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8D9550-1ED4-4C39-8A95-4DAD9DA91C87}"/>
              </a:ext>
            </a:extLst>
          </p:cNvPr>
          <p:cNvSpPr>
            <a:spLocks noGrp="1"/>
          </p:cNvSpPr>
          <p:nvPr/>
        </p:nvSpPr>
        <p:spPr>
          <a:xfrm>
            <a:off x="7855774" y="2512595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FastAPI / SQLAlchemy / JWT / Uvicorn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9AEA5F4-764C-4723-A8DB-70906ED8AB8A}"/>
              </a:ext>
            </a:extLst>
          </p:cNvPr>
          <p:cNvSpPr>
            <a:spLocks noGrp="1"/>
          </p:cNvSpPr>
          <p:nvPr/>
        </p:nvSpPr>
        <p:spPr>
          <a:xfrm>
            <a:off x="6217474" y="3217445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280FEC-A6F4-41AF-AE63-4D4809BF6705}"/>
              </a:ext>
            </a:extLst>
          </p:cNvPr>
          <p:cNvSpPr>
            <a:spLocks noGrp="1"/>
          </p:cNvSpPr>
          <p:nvPr/>
        </p:nvSpPr>
        <p:spPr>
          <a:xfrm>
            <a:off x="6217474" y="3217445"/>
            <a:ext cx="49530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0D9DF5-8B5F-45E6-AAB9-43B5D1792571}"/>
              </a:ext>
            </a:extLst>
          </p:cNvPr>
          <p:cNvSpPr>
            <a:spLocks noGrp="1"/>
          </p:cNvSpPr>
          <p:nvPr/>
        </p:nvSpPr>
        <p:spPr>
          <a:xfrm>
            <a:off x="6465124" y="3407945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数据与资源层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9A07C1-97E1-4FE4-B862-37130EC5910E}"/>
              </a:ext>
            </a:extLst>
          </p:cNvPr>
          <p:cNvSpPr>
            <a:spLocks noGrp="1"/>
          </p:cNvSpPr>
          <p:nvPr/>
        </p:nvSpPr>
        <p:spPr>
          <a:xfrm>
            <a:off x="7855774" y="3407945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SQL Server 持久化 / Redis 缓存 / 阿里云 OSS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BD78D63-B1FD-4AAB-8B9B-19345B5C8A96}"/>
              </a:ext>
            </a:extLst>
          </p:cNvPr>
          <p:cNvSpPr>
            <a:spLocks noGrp="1"/>
          </p:cNvSpPr>
          <p:nvPr/>
        </p:nvSpPr>
        <p:spPr>
          <a:xfrm>
            <a:off x="6217474" y="4112795"/>
            <a:ext cx="495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5EBC2E-5435-42C7-9C07-02BE9BC22944}"/>
              </a:ext>
            </a:extLst>
          </p:cNvPr>
          <p:cNvSpPr>
            <a:spLocks noGrp="1"/>
          </p:cNvSpPr>
          <p:nvPr/>
        </p:nvSpPr>
        <p:spPr>
          <a:xfrm>
            <a:off x="6217474" y="4112795"/>
            <a:ext cx="49530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A9D2A69-E077-448F-82EB-05096FC0E8C1}"/>
              </a:ext>
            </a:extLst>
          </p:cNvPr>
          <p:cNvSpPr>
            <a:spLocks noGrp="1"/>
          </p:cNvSpPr>
          <p:nvPr/>
        </p:nvSpPr>
        <p:spPr>
          <a:xfrm>
            <a:off x="6465124" y="4303295"/>
            <a:ext cx="12192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智能服务层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1308D7-EC05-47DE-87AD-E7CD77ACEA2A}"/>
              </a:ext>
            </a:extLst>
          </p:cNvPr>
          <p:cNvSpPr>
            <a:spLocks noGrp="1"/>
          </p:cNvSpPr>
          <p:nvPr/>
        </p:nvSpPr>
        <p:spPr>
          <a:xfrm>
            <a:off x="7855774" y="4303295"/>
            <a:ext cx="2857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DashScope / OpenAI / GLM，按场景构造提示词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0910193-DF11-43D9-AC75-4B0E203C5548}"/>
              </a:ext>
            </a:extLst>
          </p:cNvPr>
          <p:cNvSpPr>
            <a:spLocks noGrp="1"/>
          </p:cNvSpPr>
          <p:nvPr/>
        </p:nvSpPr>
        <p:spPr>
          <a:xfrm>
            <a:off x="6217474" y="5219700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B3CF60-E5CA-466C-B594-383AB52B94A2}"/>
              </a:ext>
            </a:extLst>
          </p:cNvPr>
          <p:cNvSpPr>
            <a:spLocks noGrp="1"/>
          </p:cNvSpPr>
          <p:nvPr/>
        </p:nvSpPr>
        <p:spPr>
          <a:xfrm>
            <a:off x="6465124" y="5391150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架构边界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C9CFD6-4825-444C-AD11-F7AB0F916EEB}"/>
              </a:ext>
            </a:extLst>
          </p:cNvPr>
          <p:cNvSpPr>
            <a:spLocks noGrp="1"/>
          </p:cNvSpPr>
          <p:nvPr/>
        </p:nvSpPr>
        <p:spPr>
          <a:xfrm>
            <a:off x="7322374" y="5381625"/>
            <a:ext cx="3429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923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根据</a:t>
            </a:r>
            <a:r>
              <a:rPr lang="en-US" altLang="zh-CN" sz="923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DDD</a:t>
            </a:r>
            <a:r>
              <a:rPr lang="zh-CN" altLang="en-US" sz="923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设计</a:t>
            </a:r>
            <a:r>
              <a:rPr lang="zh-CN" altLang="en-US" sz="923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923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模型调用与代码执行均封装为独立能力，业务层只通过接口编排，便于权限控制、日志记录和后续替换</a:t>
            </a:r>
            <a:r>
              <a:rPr sz="923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3582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DD64BCA8-CBCD-4819-858E-DB5992DF833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61BEE1D-A316-4D4A-8C71-BFC31BDDE60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D81FA9F-ACE7-4108-B65A-D2362D2286A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A5A1AA4-064A-4ACB-831C-9184B667D6E7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ADA41D-1C13-47FA-B6C4-0303C428F6D6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00C36F-6281-4189-814B-C5364F9668A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功能模块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DFFBA4-509D-4FD6-8765-85126DD74795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1B8069-FD7F-44BA-B1B7-9C33815E1FC1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功能模块：智能辅学是核心，但必须被课程、任务和记录支撑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AA5962-12B9-4B36-9472-28A505A4ECA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模块划分围绕两类用户展开：学生完成学习实践，教师完成教学组织与干预。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1FFFBE0-DD45-4303-A53B-29D90F03FC6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6515100" cy="4585541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CEEFE3-6F34-4629-9447-0CED1F1C45DA}"/>
              </a:ext>
            </a:extLst>
          </p:cNvPr>
          <p:cNvSpPr>
            <a:spLocks noGrp="1"/>
          </p:cNvSpPr>
          <p:nvPr/>
        </p:nvSpPr>
        <p:spPr>
          <a:xfrm>
            <a:off x="514350" y="1657351"/>
            <a:ext cx="6515129" cy="79453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837" y="1790701"/>
            <a:ext cx="6230329" cy="429043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EBC9E47-61AB-4850-9863-CE32742572BA}"/>
              </a:ext>
            </a:extLst>
          </p:cNvPr>
          <p:cNvSpPr>
            <a:spLocks noGrp="1"/>
          </p:cNvSpPr>
          <p:nvPr/>
        </p:nvSpPr>
        <p:spPr>
          <a:xfrm>
            <a:off x="7467600" y="2046372"/>
            <a:ext cx="4400550" cy="45720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D04B12-7696-4EC5-AA3A-4C87FCE2FCC5}"/>
              </a:ext>
            </a:extLst>
          </p:cNvPr>
          <p:cNvSpPr>
            <a:spLocks noGrp="1"/>
          </p:cNvSpPr>
          <p:nvPr/>
        </p:nvSpPr>
        <p:spPr>
          <a:xfrm>
            <a:off x="7543800" y="2113047"/>
            <a:ext cx="815721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97438B-486B-4869-9EF7-106C132D18C2}"/>
              </a:ext>
            </a:extLst>
          </p:cNvPr>
          <p:cNvSpPr>
            <a:spLocks noGrp="1"/>
          </p:cNvSpPr>
          <p:nvPr/>
        </p:nvSpPr>
        <p:spPr>
          <a:xfrm>
            <a:off x="8511921" y="2113047"/>
            <a:ext cx="3280029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主要职责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E5FEFB-95F8-48BA-8F76-A337F2226FCD}"/>
              </a:ext>
            </a:extLst>
          </p:cNvPr>
          <p:cNvSpPr>
            <a:spLocks noGrp="1"/>
          </p:cNvSpPr>
          <p:nvPr/>
        </p:nvSpPr>
        <p:spPr>
          <a:xfrm>
            <a:off x="7467600" y="2503572"/>
            <a:ext cx="4400550" cy="45720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B3D71C-5163-49DA-BF9E-593A2D12D39C}"/>
              </a:ext>
            </a:extLst>
          </p:cNvPr>
          <p:cNvSpPr>
            <a:spLocks noGrp="1"/>
          </p:cNvSpPr>
          <p:nvPr/>
        </p:nvSpPr>
        <p:spPr>
          <a:xfrm>
            <a:off x="7543800" y="2570247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E96D53-8415-40CF-A57C-891F14C098F9}"/>
              </a:ext>
            </a:extLst>
          </p:cNvPr>
          <p:cNvSpPr>
            <a:spLocks noGrp="1"/>
          </p:cNvSpPr>
          <p:nvPr/>
        </p:nvSpPr>
        <p:spPr>
          <a:xfrm>
            <a:off x="8511921" y="2570247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课程学习、在线编程、AI 辅助、消息互动、学习记录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938CCA-0C1D-4974-9ABE-4188B26A347C}"/>
              </a:ext>
            </a:extLst>
          </p:cNvPr>
          <p:cNvSpPr>
            <a:spLocks noGrp="1"/>
          </p:cNvSpPr>
          <p:nvPr/>
        </p:nvSpPr>
        <p:spPr>
          <a:xfrm>
            <a:off x="7467600" y="2960772"/>
            <a:ext cx="44005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582627-71E0-47D4-9680-6737947753EB}"/>
              </a:ext>
            </a:extLst>
          </p:cNvPr>
          <p:cNvSpPr>
            <a:spLocks noGrp="1"/>
          </p:cNvSpPr>
          <p:nvPr/>
        </p:nvSpPr>
        <p:spPr>
          <a:xfrm>
            <a:off x="7543800" y="3027447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A5CB9-D288-4A3C-8046-CA2672FC15F1}"/>
              </a:ext>
            </a:extLst>
          </p:cNvPr>
          <p:cNvSpPr>
            <a:spLocks noGrp="1"/>
          </p:cNvSpPr>
          <p:nvPr/>
        </p:nvSpPr>
        <p:spPr>
          <a:xfrm>
            <a:off x="8511921" y="3027447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课程管理、内容编排、任务管理、资源管理、学生状态查看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F60F9D-28D6-44B9-BB84-5628D0C910B3}"/>
              </a:ext>
            </a:extLst>
          </p:cNvPr>
          <p:cNvSpPr>
            <a:spLocks noGrp="1"/>
          </p:cNvSpPr>
          <p:nvPr/>
        </p:nvSpPr>
        <p:spPr>
          <a:xfrm>
            <a:off x="7467600" y="3417972"/>
            <a:ext cx="4400550" cy="45720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C2AAD2-9619-4C6D-994C-7CA0C4A25E37}"/>
              </a:ext>
            </a:extLst>
          </p:cNvPr>
          <p:cNvSpPr>
            <a:spLocks noGrp="1"/>
          </p:cNvSpPr>
          <p:nvPr/>
        </p:nvSpPr>
        <p:spPr>
          <a:xfrm>
            <a:off x="7543800" y="3484647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智能辅学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E478A5-C947-4F70-8272-077D608C47B1}"/>
              </a:ext>
            </a:extLst>
          </p:cNvPr>
          <p:cNvSpPr>
            <a:spLocks noGrp="1"/>
          </p:cNvSpPr>
          <p:nvPr/>
        </p:nvSpPr>
        <p:spPr>
          <a:xfrm>
            <a:off x="8511921" y="3484647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自由问答、代码解释、错误解析、问题分解、建模与算法指导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B85E3C-BC47-4C52-B203-9B65C6172F4B}"/>
              </a:ext>
            </a:extLst>
          </p:cNvPr>
          <p:cNvSpPr>
            <a:spLocks noGrp="1"/>
          </p:cNvSpPr>
          <p:nvPr/>
        </p:nvSpPr>
        <p:spPr>
          <a:xfrm>
            <a:off x="7467600" y="3875172"/>
            <a:ext cx="4400550" cy="45720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F1A917-048C-44FD-B887-25A6D77917E2}"/>
              </a:ext>
            </a:extLst>
          </p:cNvPr>
          <p:cNvSpPr>
            <a:spLocks noGrp="1"/>
          </p:cNvSpPr>
          <p:nvPr/>
        </p:nvSpPr>
        <p:spPr>
          <a:xfrm>
            <a:off x="7543800" y="3941847"/>
            <a:ext cx="815721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数据支撑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2ECDB1-7CEE-4609-8B87-0888DC5A6A9E}"/>
              </a:ext>
            </a:extLst>
          </p:cNvPr>
          <p:cNvSpPr>
            <a:spLocks noGrp="1"/>
          </p:cNvSpPr>
          <p:nvPr/>
        </p:nvSpPr>
        <p:spPr>
          <a:xfrm>
            <a:off x="8511921" y="3941847"/>
            <a:ext cx="3280029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用户、课程、内容、任务、资源、评论、点赞、records 行为记录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60877C3-B33C-411E-83A7-8277B47D5E1A}"/>
              </a:ext>
            </a:extLst>
          </p:cNvPr>
          <p:cNvSpPr>
            <a:spLocks noGrp="1"/>
          </p:cNvSpPr>
          <p:nvPr/>
        </p:nvSpPr>
        <p:spPr>
          <a:xfrm>
            <a:off x="7467600" y="4618122"/>
            <a:ext cx="4400550" cy="1123950"/>
          </a:xfrm>
          <a:prstGeom prst="roundRect">
            <a:avLst>
              <a:gd name="adj" fmla="val 6780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8B08B2-ECF4-4FE6-BA79-0DD54B687847}"/>
              </a:ext>
            </a:extLst>
          </p:cNvPr>
          <p:cNvSpPr>
            <a:spLocks noGrp="1"/>
          </p:cNvSpPr>
          <p:nvPr/>
        </p:nvSpPr>
        <p:spPr>
          <a:xfrm>
            <a:off x="7734300" y="4846722"/>
            <a:ext cx="1524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A67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A6700"/>
                </a:solidFill>
                <a:latin typeface="PingFang SC"/>
                <a:ea typeface="PingFang SC"/>
                <a:cs typeface="PingFang SC"/>
              </a:rPr>
              <a:t>模块关系的关键点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5D2C2C-A582-4650-803F-0C4988439522}"/>
              </a:ext>
            </a:extLst>
          </p:cNvPr>
          <p:cNvSpPr>
            <a:spLocks noGrp="1"/>
          </p:cNvSpPr>
          <p:nvPr/>
        </p:nvSpPr>
        <p:spPr>
          <a:xfrm>
            <a:off x="7734300" y="5151522"/>
            <a:ext cx="3619500" cy="4953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学生实践产生数据，AI 辅助解决即时卡点。</a:t>
            </a:r>
          </a:p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教师管理课程与资源，并根据记录进行干预。</a:t>
            </a:r>
          </a:p>
          <a:p>
            <a:pPr algn="l">
              <a:def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平台把“学习行为”从一次性操作变成可复盘证据。</a:t>
            </a:r>
          </a:p>
        </p:txBody>
      </p:sp>
    </p:spTree>
    <p:extLst>
      <p:ext uri="{BB962C8B-B14F-4D97-AF65-F5344CB8AC3E}">
        <p14:creationId xmlns:p14="http://schemas.microsoft.com/office/powerpoint/2010/main" val="204552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65035FE1-8CEB-4CA8-AB21-72FEE76AEF48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C6D0805-587E-49A3-86E8-887917F3992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4FE4CFE-BAFA-43ED-AD62-2C473765885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80E14C8-1E6E-47B5-A4EB-82EBD3E0334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D5ABE7-1947-444B-A496-C325336CED94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8ACA86-1CF9-4443-B58C-60B1990992F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学生端实现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F1FC1B-4D3E-47C3-8CDF-F72B95362879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41985-940A-438A-8135-D0FD49A24DF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学生端：把课程、练习、运行结果和 AI 反馈放在同一条学习路径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3F4119-6828-4CE6-B831-25A20C55CBA6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界面目标是让学生少切换工具，把注意力放在理解题目、修改代码和复盘错误上。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AF8FA9E-FDE7-48C1-AFA9-CA5686B3673C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7738416" cy="43624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896753-34AE-45B5-A3CE-EBF5D491A662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7738466" cy="76727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674" b="674"/>
          <a:stretch>
            <a:fillRect/>
          </a:stretch>
        </p:blipFill>
        <p:spPr>
          <a:xfrm>
            <a:off x="647700" y="1562100"/>
            <a:ext cx="7475354" cy="40774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7323251-1B7D-4642-A9F4-0CC0BC59C27E}"/>
              </a:ext>
            </a:extLst>
          </p:cNvPr>
          <p:cNvSpPr>
            <a:spLocks noGrp="1"/>
          </p:cNvSpPr>
          <p:nvPr/>
        </p:nvSpPr>
        <p:spPr>
          <a:xfrm>
            <a:off x="647700" y="6057900"/>
            <a:ext cx="2857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38" b="1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学生端仪表盘与学习入口</a:t>
            </a:r>
            <a:endParaRPr sz="938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CF0A3CF-0E05-4BDB-8DC5-0622524D52E4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FFB696-CEAC-45B9-AC0B-5FB6E50B8BBC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32956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C5692A-365B-462B-94BB-4BF35EA879C3}"/>
              </a:ext>
            </a:extLst>
          </p:cNvPr>
          <p:cNvSpPr>
            <a:spLocks noGrp="1"/>
          </p:cNvSpPr>
          <p:nvPr/>
        </p:nvSpPr>
        <p:spPr>
          <a:xfrm>
            <a:off x="8801100" y="160020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学习入口集中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2A9F68-FAB5-4553-80E1-6561F360A352}"/>
              </a:ext>
            </a:extLst>
          </p:cNvPr>
          <p:cNvSpPr>
            <a:spLocks noGrp="1"/>
          </p:cNvSpPr>
          <p:nvPr/>
        </p:nvSpPr>
        <p:spPr>
          <a:xfrm>
            <a:off x="8801100" y="181927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课程、任务、消息、练习记录集中呈现，减少学生寻找路径的成本。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0CB6271-3388-4068-B549-CA59BECC5922}"/>
              </a:ext>
            </a:extLst>
          </p:cNvPr>
          <p:cNvSpPr>
            <a:spLocks noGrp="1"/>
          </p:cNvSpPr>
          <p:nvPr/>
        </p:nvSpPr>
        <p:spPr>
          <a:xfrm>
            <a:off x="8572500" y="2619375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94EA2-EECC-4791-9CDC-C94D2C1382AA}"/>
              </a:ext>
            </a:extLst>
          </p:cNvPr>
          <p:cNvSpPr>
            <a:spLocks noGrp="1"/>
          </p:cNvSpPr>
          <p:nvPr/>
        </p:nvSpPr>
        <p:spPr>
          <a:xfrm>
            <a:off x="8572500" y="2619375"/>
            <a:ext cx="32956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0B0ABB-2AE9-44A6-B192-637B6A962143}"/>
              </a:ext>
            </a:extLst>
          </p:cNvPr>
          <p:cNvSpPr>
            <a:spLocks noGrp="1"/>
          </p:cNvSpPr>
          <p:nvPr/>
        </p:nvSpPr>
        <p:spPr>
          <a:xfrm>
            <a:off x="8801100" y="2790825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在线编程实践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16A0B7-7C34-43BB-AC4E-CC7F43F76899}"/>
              </a:ext>
            </a:extLst>
          </p:cNvPr>
          <p:cNvSpPr>
            <a:spLocks noGrp="1"/>
          </p:cNvSpPr>
          <p:nvPr/>
        </p:nvSpPr>
        <p:spPr>
          <a:xfrm>
            <a:off x="8801100" y="3009900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学生在浏览器内编写 Python，运行后直接看到输出、错误和状态。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5291D94-19FD-411C-BA52-DAB3324D1462}"/>
              </a:ext>
            </a:extLst>
          </p:cNvPr>
          <p:cNvSpPr>
            <a:spLocks noGrp="1"/>
          </p:cNvSpPr>
          <p:nvPr/>
        </p:nvSpPr>
        <p:spPr>
          <a:xfrm>
            <a:off x="8572500" y="3852862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1D9916-9FAE-42CD-9318-44B449A15218}"/>
              </a:ext>
            </a:extLst>
          </p:cNvPr>
          <p:cNvSpPr>
            <a:spLocks noGrp="1"/>
          </p:cNvSpPr>
          <p:nvPr/>
        </p:nvSpPr>
        <p:spPr>
          <a:xfrm>
            <a:off x="8572500" y="3852862"/>
            <a:ext cx="32956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317241-09F2-45FC-9D8F-68F1B28B6211}"/>
              </a:ext>
            </a:extLst>
          </p:cNvPr>
          <p:cNvSpPr>
            <a:spLocks noGrp="1"/>
          </p:cNvSpPr>
          <p:nvPr/>
        </p:nvSpPr>
        <p:spPr>
          <a:xfrm>
            <a:off x="8801100" y="4024312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AI 伴随式反馈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FF2034-6C34-4BA6-AFAB-1A4D845D1D75}"/>
              </a:ext>
            </a:extLst>
          </p:cNvPr>
          <p:cNvSpPr>
            <a:spLocks noGrp="1"/>
          </p:cNvSpPr>
          <p:nvPr/>
        </p:nvSpPr>
        <p:spPr>
          <a:xfrm>
            <a:off x="8801100" y="4243387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遇到卡点时调用解释、报错分析或问题分解，而不是跳出平台搜索。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838B5ED9-537D-48EE-A128-0499F095762D}"/>
              </a:ext>
            </a:extLst>
          </p:cNvPr>
          <p:cNvSpPr>
            <a:spLocks noGrp="1"/>
          </p:cNvSpPr>
          <p:nvPr/>
        </p:nvSpPr>
        <p:spPr>
          <a:xfrm>
            <a:off x="8572500" y="5086350"/>
            <a:ext cx="3295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95077B-04AB-49E1-9E56-8D540A43E6BB}"/>
              </a:ext>
            </a:extLst>
          </p:cNvPr>
          <p:cNvSpPr>
            <a:spLocks noGrp="1"/>
          </p:cNvSpPr>
          <p:nvPr/>
        </p:nvSpPr>
        <p:spPr>
          <a:xfrm>
            <a:off x="8572500" y="5086350"/>
            <a:ext cx="32956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659AB0-E0F0-4FD0-ABE3-735C44E2BFF6}"/>
              </a:ext>
            </a:extLst>
          </p:cNvPr>
          <p:cNvSpPr>
            <a:spLocks noGrp="1"/>
          </p:cNvSpPr>
          <p:nvPr/>
        </p:nvSpPr>
        <p:spPr>
          <a:xfrm>
            <a:off x="8801100" y="5257800"/>
            <a:ext cx="1162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记录可回看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5BF7E8-47D1-4E4D-88AC-A631C02C4833}"/>
              </a:ext>
            </a:extLst>
          </p:cNvPr>
          <p:cNvSpPr>
            <a:spLocks noGrp="1"/>
          </p:cNvSpPr>
          <p:nvPr/>
        </p:nvSpPr>
        <p:spPr>
          <a:xfrm>
            <a:off x="8801100" y="5476875"/>
            <a:ext cx="27241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代码、输入、输出和错误类型沉淀为学习记录，便于后续复盘。</a:t>
            </a:r>
          </a:p>
        </p:txBody>
      </p:sp>
    </p:spTree>
    <p:extLst>
      <p:ext uri="{BB962C8B-B14F-4D97-AF65-F5344CB8AC3E}">
        <p14:creationId xmlns:p14="http://schemas.microsoft.com/office/powerpoint/2010/main" val="121468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B73D3CFD-7623-4E71-98CE-B45F2291A65A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D21E814-5518-41D3-B31C-C962B69817C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113E46C-4243-4067-ACEF-5562F0953E0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D6AEF20-87C9-4FD4-BB7A-F8615F36DA4D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58A3F-389B-4B15-9F07-C1BC19AAAA7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87A026-43CC-4098-B0F4-FB51D91A80E0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教师端实现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60DB5F-DB68-4D01-B4CE-819DDC7955C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1A39-AB3A-4D4F-B78A-B73B7D8ECF8E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资源页</a:t>
            </a:r>
            <a:r>
              <a:rPr sz="180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800" b="1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从“发布内容”扩展到“观察过程并干预</a:t>
            </a:r>
            <a:r>
              <a:rPr sz="1800" b="1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134421-5C6D-4037-8365-5F4BB41DF30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教师端不只做后台管理</a:t>
            </a:r>
            <a:r>
              <a:rPr sz="1013" b="0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lang="zh-CN" altLang="en-US" sz="1013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还</a:t>
            </a:r>
            <a:r>
              <a:rPr sz="1013" b="0" dirty="0" err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承接课程编排、资源组织、任务管理和学习记录分析</a:t>
            </a:r>
            <a:r>
              <a:rPr sz="1013" b="0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6E82328-E4AC-4093-B2C5-5EB24A1F7029}"/>
              </a:ext>
            </a:extLst>
          </p:cNvPr>
          <p:cNvSpPr>
            <a:spLocks noGrp="1"/>
          </p:cNvSpPr>
          <p:nvPr/>
        </p:nvSpPr>
        <p:spPr>
          <a:xfrm>
            <a:off x="533400" y="1371600"/>
            <a:ext cx="5562600" cy="2864943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E34E4-ACB0-4ED3-AF9F-066264828724}"/>
              </a:ext>
            </a:extLst>
          </p:cNvPr>
          <p:cNvSpPr>
            <a:spLocks noGrp="1"/>
          </p:cNvSpPr>
          <p:nvPr/>
        </p:nvSpPr>
        <p:spPr>
          <a:xfrm>
            <a:off x="533401" y="1371601"/>
            <a:ext cx="5562568" cy="7040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7857" b="7857"/>
          <a:stretch>
            <a:fillRect/>
          </a:stretch>
        </p:blipFill>
        <p:spPr>
          <a:xfrm>
            <a:off x="647700" y="1589775"/>
            <a:ext cx="5319963" cy="2461475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A6465C25-7C67-43C7-835F-D7C77971892A}"/>
              </a:ext>
            </a:extLst>
          </p:cNvPr>
          <p:cNvSpPr>
            <a:spLocks noGrp="1"/>
          </p:cNvSpPr>
          <p:nvPr/>
        </p:nvSpPr>
        <p:spPr>
          <a:xfrm>
            <a:off x="6797842" y="1379476"/>
            <a:ext cx="4981074" cy="2857067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55EBB3-E203-41D2-AFEF-EDD5FB456ACA}"/>
              </a:ext>
            </a:extLst>
          </p:cNvPr>
          <p:cNvSpPr>
            <a:spLocks noGrp="1"/>
          </p:cNvSpPr>
          <p:nvPr/>
        </p:nvSpPr>
        <p:spPr>
          <a:xfrm>
            <a:off x="6797842" y="1379477"/>
            <a:ext cx="4981055" cy="75208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BF5AC89-E8CD-443F-AE40-05A53B344EA6}"/>
              </a:ext>
            </a:extLst>
          </p:cNvPr>
          <p:cNvSpPr>
            <a:spLocks noGrp="1"/>
          </p:cNvSpPr>
          <p:nvPr/>
        </p:nvSpPr>
        <p:spPr>
          <a:xfrm>
            <a:off x="514351" y="5000489"/>
            <a:ext cx="350644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1F9ACC-EDE8-43F7-A492-62E2D7E1CBF5}"/>
              </a:ext>
            </a:extLst>
          </p:cNvPr>
          <p:cNvSpPr>
            <a:spLocks noGrp="1"/>
          </p:cNvSpPr>
          <p:nvPr/>
        </p:nvSpPr>
        <p:spPr>
          <a:xfrm>
            <a:off x="514351" y="5000489"/>
            <a:ext cx="3506444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351B7C-1457-4097-985D-A7FDDB721ABE}"/>
              </a:ext>
            </a:extLst>
          </p:cNvPr>
          <p:cNvSpPr>
            <a:spLocks noGrp="1"/>
          </p:cNvSpPr>
          <p:nvPr/>
        </p:nvSpPr>
        <p:spPr>
          <a:xfrm>
            <a:off x="762001" y="5171939"/>
            <a:ext cx="705746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课程编排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AF9FA-776C-4109-A6FB-73FD8D7F841A}"/>
              </a:ext>
            </a:extLst>
          </p:cNvPr>
          <p:cNvSpPr>
            <a:spLocks noGrp="1"/>
          </p:cNvSpPr>
          <p:nvPr/>
        </p:nvSpPr>
        <p:spPr>
          <a:xfrm>
            <a:off x="1533019" y="5162414"/>
            <a:ext cx="2389276" cy="22873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教师创建课程，组织章节、知识点和课程内容</a:t>
            </a:r>
            <a:r>
              <a:rPr sz="87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F274D30-C23E-4116-A250-BD2DDB39A061}"/>
              </a:ext>
            </a:extLst>
          </p:cNvPr>
          <p:cNvSpPr>
            <a:spLocks noGrp="1"/>
          </p:cNvSpPr>
          <p:nvPr/>
        </p:nvSpPr>
        <p:spPr>
          <a:xfrm>
            <a:off x="8206500" y="4990376"/>
            <a:ext cx="366163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CB323B-92C2-4C38-896D-C2A98E5B24DD}"/>
              </a:ext>
            </a:extLst>
          </p:cNvPr>
          <p:cNvSpPr>
            <a:spLocks noGrp="1"/>
          </p:cNvSpPr>
          <p:nvPr/>
        </p:nvSpPr>
        <p:spPr>
          <a:xfrm>
            <a:off x="8206500" y="4990376"/>
            <a:ext cx="3661631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F07B8A-8F18-43AA-93E3-868CED498094}"/>
              </a:ext>
            </a:extLst>
          </p:cNvPr>
          <p:cNvSpPr>
            <a:spLocks noGrp="1"/>
          </p:cNvSpPr>
          <p:nvPr/>
        </p:nvSpPr>
        <p:spPr>
          <a:xfrm>
            <a:off x="8454151" y="5161826"/>
            <a:ext cx="73698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任务管理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B40D97-D552-4D37-B3B1-91D239090336}"/>
              </a:ext>
            </a:extLst>
          </p:cNvPr>
          <p:cNvSpPr>
            <a:spLocks noGrp="1"/>
          </p:cNvSpPr>
          <p:nvPr/>
        </p:nvSpPr>
        <p:spPr>
          <a:xfrm>
            <a:off x="9225169" y="5152301"/>
            <a:ext cx="2265246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布置编程任务，明确练习目标与提交要求</a:t>
            </a:r>
            <a:r>
              <a:rPr sz="87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9295186-C05C-4DB6-8D91-C5756CCC509C}"/>
              </a:ext>
            </a:extLst>
          </p:cNvPr>
          <p:cNvSpPr>
            <a:spLocks noGrp="1"/>
          </p:cNvSpPr>
          <p:nvPr/>
        </p:nvSpPr>
        <p:spPr>
          <a:xfrm>
            <a:off x="514351" y="5876925"/>
            <a:ext cx="350644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41CE97-6D6C-4DBA-B172-E4C7E115052B}"/>
              </a:ext>
            </a:extLst>
          </p:cNvPr>
          <p:cNvSpPr>
            <a:spLocks noGrp="1"/>
          </p:cNvSpPr>
          <p:nvPr/>
        </p:nvSpPr>
        <p:spPr>
          <a:xfrm>
            <a:off x="514351" y="5876925"/>
            <a:ext cx="3506444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D47DCD-B2F4-4A48-B637-9DD9F9301F53}"/>
              </a:ext>
            </a:extLst>
          </p:cNvPr>
          <p:cNvSpPr>
            <a:spLocks noGrp="1"/>
          </p:cNvSpPr>
          <p:nvPr/>
        </p:nvSpPr>
        <p:spPr>
          <a:xfrm>
            <a:off x="762001" y="6048375"/>
            <a:ext cx="705746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0A97D6-7A9B-4BEF-B8E2-4EE1DAB9FABB}"/>
              </a:ext>
            </a:extLst>
          </p:cNvPr>
          <p:cNvSpPr>
            <a:spLocks noGrp="1"/>
          </p:cNvSpPr>
          <p:nvPr/>
        </p:nvSpPr>
        <p:spPr>
          <a:xfrm>
            <a:off x="1533019" y="6038850"/>
            <a:ext cx="2487776" cy="22873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维护课件、示例资料与拓展资源，支持权限控制</a:t>
            </a:r>
            <a:r>
              <a:rPr lang="zh-CN" altLang="en-US" sz="87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  <a:endParaRPr sz="870" b="0" dirty="0">
              <a:solidFill>
                <a:srgbClr val="20212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D619923-7231-4E56-B605-B90ED9870A51}"/>
              </a:ext>
            </a:extLst>
          </p:cNvPr>
          <p:cNvSpPr>
            <a:spLocks noGrp="1"/>
          </p:cNvSpPr>
          <p:nvPr/>
        </p:nvSpPr>
        <p:spPr>
          <a:xfrm>
            <a:off x="8206500" y="5876563"/>
            <a:ext cx="366163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AE90DC-3E42-4C8B-8FBC-8D3C0F5809F4}"/>
              </a:ext>
            </a:extLst>
          </p:cNvPr>
          <p:cNvSpPr>
            <a:spLocks noGrp="1"/>
          </p:cNvSpPr>
          <p:nvPr/>
        </p:nvSpPr>
        <p:spPr>
          <a:xfrm>
            <a:off x="8206500" y="5876563"/>
            <a:ext cx="3661631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50794F-58AB-4F97-A34C-0B382BCC07EB}"/>
              </a:ext>
            </a:extLst>
          </p:cNvPr>
          <p:cNvSpPr>
            <a:spLocks noGrp="1"/>
          </p:cNvSpPr>
          <p:nvPr/>
        </p:nvSpPr>
        <p:spPr>
          <a:xfrm>
            <a:off x="8454151" y="6048013"/>
            <a:ext cx="73698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学习观察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19D86C-1DCE-4B1F-B8F1-DAB5398A628A}"/>
              </a:ext>
            </a:extLst>
          </p:cNvPr>
          <p:cNvSpPr>
            <a:spLocks noGrp="1"/>
          </p:cNvSpPr>
          <p:nvPr/>
        </p:nvSpPr>
        <p:spPr>
          <a:xfrm>
            <a:off x="9225169" y="6038488"/>
            <a:ext cx="2452480" cy="1809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查看代码运行、错误类型、消息互动和学习记录</a:t>
            </a:r>
            <a:r>
              <a:rPr sz="87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C22C27E-A04C-4990-A02E-0276819F15A3}"/>
              </a:ext>
            </a:extLst>
          </p:cNvPr>
          <p:cNvSpPr>
            <a:spLocks noGrp="1"/>
          </p:cNvSpPr>
          <p:nvPr/>
        </p:nvSpPr>
        <p:spPr>
          <a:xfrm>
            <a:off x="4129560" y="5409838"/>
            <a:ext cx="3968174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B670B6-54AF-4EEE-B659-52CEED097116}"/>
              </a:ext>
            </a:extLst>
          </p:cNvPr>
          <p:cNvSpPr>
            <a:spLocks noGrp="1"/>
          </p:cNvSpPr>
          <p:nvPr/>
        </p:nvSpPr>
        <p:spPr>
          <a:xfrm>
            <a:off x="4129560" y="5409838"/>
            <a:ext cx="3968174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D7C3F6-82FB-4475-B778-4BBD91BE2C35}"/>
              </a:ext>
            </a:extLst>
          </p:cNvPr>
          <p:cNvSpPr>
            <a:spLocks noGrp="1"/>
          </p:cNvSpPr>
          <p:nvPr/>
        </p:nvSpPr>
        <p:spPr>
          <a:xfrm>
            <a:off x="4377211" y="5581288"/>
            <a:ext cx="70268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教学干预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ACDB0E-2A08-441B-ABB0-929562F0669F}"/>
              </a:ext>
            </a:extLst>
          </p:cNvPr>
          <p:cNvSpPr>
            <a:spLocks noGrp="1"/>
          </p:cNvSpPr>
          <p:nvPr/>
        </p:nvSpPr>
        <p:spPr>
          <a:xfrm>
            <a:off x="5196358" y="5571762"/>
            <a:ext cx="2708389" cy="21943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依据数据发现共性问题，安排讲解、提醒或补充资料</a:t>
            </a:r>
            <a:r>
              <a:rPr sz="870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pic>
        <p:nvPicPr>
          <p:cNvPr id="38" name="图片 37" descr="图形用户界面&#10;&#10;AI 生成的内容可能不正确。">
            <a:extLst>
              <a:ext uri="{FF2B5EF4-FFF2-40B4-BE49-F238E27FC236}">
                <a16:creationId xmlns:a16="http://schemas.microsoft.com/office/drawing/2014/main" id="{64594215-B5E2-D507-E4DE-79F6C9AA6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356" y="1511735"/>
            <a:ext cx="4642026" cy="261574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00DA2227-245C-2D3A-116F-A43BB85274BE}"/>
              </a:ext>
            </a:extLst>
          </p:cNvPr>
          <p:cNvSpPr>
            <a:spLocks noGrp="1"/>
          </p:cNvSpPr>
          <p:nvPr/>
        </p:nvSpPr>
        <p:spPr>
          <a:xfrm>
            <a:off x="647700" y="4428015"/>
            <a:ext cx="820047" cy="24848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938" b="1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教师端资源页</a:t>
            </a:r>
            <a:endParaRPr sz="938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E6A02A-A047-662B-02F1-5E0294F7ACC5}"/>
              </a:ext>
            </a:extLst>
          </p:cNvPr>
          <p:cNvSpPr>
            <a:spLocks noGrp="1"/>
          </p:cNvSpPr>
          <p:nvPr/>
        </p:nvSpPr>
        <p:spPr>
          <a:xfrm>
            <a:off x="6967356" y="4428014"/>
            <a:ext cx="820047" cy="24848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938" b="1" dirty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学生端资源页</a:t>
            </a:r>
            <a:endParaRPr sz="938" b="1" dirty="0">
              <a:solidFill>
                <a:srgbClr val="5F636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0053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800EF18C-E364-4D89-8982-FDFF2A57E727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9BA2690-769A-453F-8E49-819CFEBF5E0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3F9CAEB-2AA5-4CC4-9C11-F44E8BCFA4F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DCD5B1B-4015-4A10-A3DA-92A9439C431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3B6689-555E-4686-A269-F255F3303B79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ED1BBA-3690-4627-901B-D3D31F764AAC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代码执行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7C94BD-F9DE-4D04-A251-763B53570215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8ADE24-5A9F-41CF-B6C1-073276077528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在线编程：Python 在浏览器沙箱中运行，后端只记录过程与结果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47974F-DBFC-4DA7-B661-7498E59A43DF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Web Worker + Pyodide + WebAssembly 让代码执行从服务器侧移到浏览器侧。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68C4991-DDFD-4D1B-AA84-CF6958069BF3}"/>
              </a:ext>
            </a:extLst>
          </p:cNvPr>
          <p:cNvSpPr>
            <a:spLocks noGrp="1"/>
          </p:cNvSpPr>
          <p:nvPr/>
        </p:nvSpPr>
        <p:spPr>
          <a:xfrm>
            <a:off x="533399" y="1409700"/>
            <a:ext cx="4700337" cy="46789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84B1DE-1033-4D9C-9A7E-D87A4F4021FA}"/>
              </a:ext>
            </a:extLst>
          </p:cNvPr>
          <p:cNvSpPr>
            <a:spLocks noGrp="1"/>
          </p:cNvSpPr>
          <p:nvPr/>
        </p:nvSpPr>
        <p:spPr>
          <a:xfrm>
            <a:off x="533399" y="1409700"/>
            <a:ext cx="4700337" cy="74778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699" y="1660483"/>
            <a:ext cx="4443955" cy="4137816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2475832D-F8BD-466D-BF93-F50DFC95D0F0}"/>
              </a:ext>
            </a:extLst>
          </p:cNvPr>
          <p:cNvSpPr>
            <a:spLocks noGrp="1"/>
          </p:cNvSpPr>
          <p:nvPr/>
        </p:nvSpPr>
        <p:spPr>
          <a:xfrm>
            <a:off x="5478669" y="1409700"/>
            <a:ext cx="2670646" cy="467897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B7351E-B95B-4629-8A32-9B68BE7561F9}"/>
              </a:ext>
            </a:extLst>
          </p:cNvPr>
          <p:cNvSpPr>
            <a:spLocks noGrp="1"/>
          </p:cNvSpPr>
          <p:nvPr/>
        </p:nvSpPr>
        <p:spPr>
          <a:xfrm>
            <a:off x="5478668" y="1409700"/>
            <a:ext cx="2670643" cy="74778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92969" y="1806625"/>
            <a:ext cx="2414264" cy="3810011"/>
          </a:xfrm>
          <a:prstGeom prst="rect">
            <a:avLst/>
          </a:prstGeom>
        </p:spPr>
      </p:pic>
      <p:sp>
        <p:nvSpPr>
          <p:cNvPr id="16" name="圆角矩形 15">
            <a:extLst>
              <a:ext uri="{FF2B5EF4-FFF2-40B4-BE49-F238E27FC236}">
                <a16:creationId xmlns:a16="http://schemas.microsoft.com/office/drawing/2014/main" id="{A56873FC-21C2-44E7-80B2-4B7F048D6990}"/>
              </a:ext>
            </a:extLst>
          </p:cNvPr>
          <p:cNvSpPr>
            <a:spLocks noGrp="1"/>
          </p:cNvSpPr>
          <p:nvPr/>
        </p:nvSpPr>
        <p:spPr>
          <a:xfrm>
            <a:off x="8515350" y="1412207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C882A5-652E-4EE4-8E48-C83D222CFF73}"/>
              </a:ext>
            </a:extLst>
          </p:cNvPr>
          <p:cNvSpPr>
            <a:spLocks noGrp="1"/>
          </p:cNvSpPr>
          <p:nvPr/>
        </p:nvSpPr>
        <p:spPr>
          <a:xfrm>
            <a:off x="8515350" y="1412207"/>
            <a:ext cx="31432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0DB536-6DA2-4859-A36A-F57DAFD2AE7B}"/>
              </a:ext>
            </a:extLst>
          </p:cNvPr>
          <p:cNvSpPr>
            <a:spLocks noGrp="1"/>
          </p:cNvSpPr>
          <p:nvPr/>
        </p:nvSpPr>
        <p:spPr>
          <a:xfrm>
            <a:off x="8743950" y="1583657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8421A0-473A-4D8B-A89A-83CB71A48E0F}"/>
              </a:ext>
            </a:extLst>
          </p:cNvPr>
          <p:cNvSpPr>
            <a:spLocks noGrp="1"/>
          </p:cNvSpPr>
          <p:nvPr/>
        </p:nvSpPr>
        <p:spPr>
          <a:xfrm>
            <a:off x="9696450" y="1574132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后端不直接运行学生 Python，减少服务端执行风险。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8D2A2D4-53BA-4722-A0AC-23EDD0ECA5E8}"/>
              </a:ext>
            </a:extLst>
          </p:cNvPr>
          <p:cNvSpPr>
            <a:spLocks noGrp="1"/>
          </p:cNvSpPr>
          <p:nvPr/>
        </p:nvSpPr>
        <p:spPr>
          <a:xfrm>
            <a:off x="8515350" y="2288507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3AE07D-AEBF-46EA-A34C-B3443224191E}"/>
              </a:ext>
            </a:extLst>
          </p:cNvPr>
          <p:cNvSpPr>
            <a:spLocks noGrp="1"/>
          </p:cNvSpPr>
          <p:nvPr/>
        </p:nvSpPr>
        <p:spPr>
          <a:xfrm>
            <a:off x="8515350" y="2288507"/>
            <a:ext cx="31432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DFCB0-8455-4CB0-AB88-B8A2B99FCE1C}"/>
              </a:ext>
            </a:extLst>
          </p:cNvPr>
          <p:cNvSpPr>
            <a:spLocks noGrp="1"/>
          </p:cNvSpPr>
          <p:nvPr/>
        </p:nvSpPr>
        <p:spPr>
          <a:xfrm>
            <a:off x="8743950" y="2459957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线程隔离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027783-24EE-40F9-A621-D3A05C809002}"/>
              </a:ext>
            </a:extLst>
          </p:cNvPr>
          <p:cNvSpPr>
            <a:spLocks noGrp="1"/>
          </p:cNvSpPr>
          <p:nvPr/>
        </p:nvSpPr>
        <p:spPr>
          <a:xfrm>
            <a:off x="9696450" y="2450432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Worker 承担解释执行，避免主线程卡顿影响交互。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36AF843-64AD-479C-9374-EF96257A2A9A}"/>
              </a:ext>
            </a:extLst>
          </p:cNvPr>
          <p:cNvSpPr>
            <a:spLocks noGrp="1"/>
          </p:cNvSpPr>
          <p:nvPr/>
        </p:nvSpPr>
        <p:spPr>
          <a:xfrm>
            <a:off x="8515350" y="3164807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1056EA-A8C9-428C-A8B8-FD36ABA2541B}"/>
              </a:ext>
            </a:extLst>
          </p:cNvPr>
          <p:cNvSpPr>
            <a:spLocks noGrp="1"/>
          </p:cNvSpPr>
          <p:nvPr/>
        </p:nvSpPr>
        <p:spPr>
          <a:xfrm>
            <a:off x="8515350" y="3164807"/>
            <a:ext cx="31432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46D7F9-06E6-4C83-BB7A-28CCF73B147E}"/>
              </a:ext>
            </a:extLst>
          </p:cNvPr>
          <p:cNvSpPr>
            <a:spLocks noGrp="1"/>
          </p:cNvSpPr>
          <p:nvPr/>
        </p:nvSpPr>
        <p:spPr>
          <a:xfrm>
            <a:off x="8743950" y="3336257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消息协议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171115-18CB-4DC7-BB7C-42F966EF6687}"/>
              </a:ext>
            </a:extLst>
          </p:cNvPr>
          <p:cNvSpPr>
            <a:spLocks noGrp="1"/>
          </p:cNvSpPr>
          <p:nvPr/>
        </p:nvSpPr>
        <p:spPr>
          <a:xfrm>
            <a:off x="9696450" y="3326732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postMessage 返回 stdout、stderr、等待输入、运行结束等状态。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7B3A6B1-3855-44C4-9C5D-48473C56770E}"/>
              </a:ext>
            </a:extLst>
          </p:cNvPr>
          <p:cNvSpPr>
            <a:spLocks noGrp="1"/>
          </p:cNvSpPr>
          <p:nvPr/>
        </p:nvSpPr>
        <p:spPr>
          <a:xfrm>
            <a:off x="8515350" y="4041107"/>
            <a:ext cx="3143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4E68FD-4ECB-4E25-96EB-1906448B3944}"/>
              </a:ext>
            </a:extLst>
          </p:cNvPr>
          <p:cNvSpPr>
            <a:spLocks noGrp="1"/>
          </p:cNvSpPr>
          <p:nvPr/>
        </p:nvSpPr>
        <p:spPr>
          <a:xfrm>
            <a:off x="8515350" y="4041107"/>
            <a:ext cx="31432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F858F7-D74C-4780-BB2E-CF5DC6156FCC}"/>
              </a:ext>
            </a:extLst>
          </p:cNvPr>
          <p:cNvSpPr>
            <a:spLocks noGrp="1"/>
          </p:cNvSpPr>
          <p:nvPr/>
        </p:nvSpPr>
        <p:spPr>
          <a:xfrm>
            <a:off x="8743950" y="4212557"/>
            <a:ext cx="8001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过程记录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5583A11-ADC4-422E-B688-AA50583CA3A3}"/>
              </a:ext>
            </a:extLst>
          </p:cNvPr>
          <p:cNvSpPr>
            <a:spLocks noGrp="1"/>
          </p:cNvSpPr>
          <p:nvPr/>
        </p:nvSpPr>
        <p:spPr>
          <a:xfrm>
            <a:off x="9696450" y="4203032"/>
            <a:ext cx="15621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代码、输入、输出和错误类型仍通过学习记录接口沉淀。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3A641BC-BE53-4504-B616-F39DF72693F1}"/>
              </a:ext>
            </a:extLst>
          </p:cNvPr>
          <p:cNvSpPr>
            <a:spLocks noGrp="1"/>
          </p:cNvSpPr>
          <p:nvPr/>
        </p:nvSpPr>
        <p:spPr>
          <a:xfrm>
            <a:off x="8515350" y="5616636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C01D33-5390-4F1B-BB9E-A87072B5D242}"/>
              </a:ext>
            </a:extLst>
          </p:cNvPr>
          <p:cNvSpPr>
            <a:spLocks noGrp="1"/>
          </p:cNvSpPr>
          <p:nvPr/>
        </p:nvSpPr>
        <p:spPr>
          <a:xfrm>
            <a:off x="8563474" y="5788085"/>
            <a:ext cx="3124200" cy="20954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 dirty="0" err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运行状态：start</a:t>
            </a:r>
            <a:r>
              <a:rPr sz="863" b="1" dirty="0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863" b="1" dirty="0" err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input_wait</a:t>
            </a:r>
            <a:r>
              <a:rPr sz="863" b="1" dirty="0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863" b="1" dirty="0" err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stdout</a:t>
            </a:r>
            <a:r>
              <a:rPr sz="863" b="1" dirty="0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/stderr → end/error</a:t>
            </a:r>
          </a:p>
        </p:txBody>
      </p:sp>
    </p:spTree>
    <p:extLst>
      <p:ext uri="{BB962C8B-B14F-4D97-AF65-F5344CB8AC3E}">
        <p14:creationId xmlns:p14="http://schemas.microsoft.com/office/powerpoint/2010/main" val="397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>
            <a:extLst>
              <a:ext uri="{FF2B5EF4-FFF2-40B4-BE49-F238E27FC236}">
                <a16:creationId xmlns:a16="http://schemas.microsoft.com/office/drawing/2014/main" id="{D5E150E4-A2FF-4458-A7AA-03846FCCC5C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0DA31DF-80F8-4609-BB17-0EAF416B66F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B52AC2D-25DE-4E57-8032-52F57B39498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A5C5C8-7F8F-4A26-BA9E-75DFBCE69264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FB549C-C8BE-4CAE-88DC-D0FC1DF1D87F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F211E1-22BC-4E58-A20C-CFD5C7C049A9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智能辅学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1068DE-008D-4B64-9744-5A87E9883B63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EE5-0F99-4646-AAD6-9E1E9CC25FDD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智能辅学：先识别学习场景，再约束模型输出方式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406C8E-D7A4-490A-B2AA-B212898EA10C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同样是大模型调用，教育场景更关注“如何提示”和“提示到什么程度”。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776CBFF-E304-492E-B493-680392783D5B}"/>
              </a:ext>
            </a:extLst>
          </p:cNvPr>
          <p:cNvSpPr>
            <a:spLocks noGrp="1"/>
          </p:cNvSpPr>
          <p:nvPr/>
        </p:nvSpPr>
        <p:spPr>
          <a:xfrm>
            <a:off x="571499" y="1371600"/>
            <a:ext cx="4830679" cy="510029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5D5533-8EDD-462D-8B62-1B9192B7B5BE}"/>
              </a:ext>
            </a:extLst>
          </p:cNvPr>
          <p:cNvSpPr>
            <a:spLocks noGrp="1"/>
          </p:cNvSpPr>
          <p:nvPr/>
        </p:nvSpPr>
        <p:spPr>
          <a:xfrm>
            <a:off x="571499" y="1371600"/>
            <a:ext cx="4830679" cy="78639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7742" y="1504949"/>
            <a:ext cx="4202648" cy="4808211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7AD32A68-1F5A-4757-8FD2-AC3AB45028E2}"/>
              </a:ext>
            </a:extLst>
          </p:cNvPr>
          <p:cNvSpPr>
            <a:spLocks noGrp="1"/>
          </p:cNvSpPr>
          <p:nvPr/>
        </p:nvSpPr>
        <p:spPr>
          <a:xfrm>
            <a:off x="6019800" y="1375611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90C034-C572-435E-9090-B1148C0754D2}"/>
              </a:ext>
            </a:extLst>
          </p:cNvPr>
          <p:cNvSpPr>
            <a:spLocks noGrp="1"/>
          </p:cNvSpPr>
          <p:nvPr/>
        </p:nvSpPr>
        <p:spPr>
          <a:xfrm>
            <a:off x="6019800" y="1375611"/>
            <a:ext cx="54102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6248EE-4A54-4718-9426-12005314FFD1}"/>
              </a:ext>
            </a:extLst>
          </p:cNvPr>
          <p:cNvSpPr>
            <a:spLocks noGrp="1"/>
          </p:cNvSpPr>
          <p:nvPr/>
        </p:nvSpPr>
        <p:spPr>
          <a:xfrm>
            <a:off x="6286500" y="1575636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场景识别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6115A5-B406-4EB9-952C-087F0D458850}"/>
              </a:ext>
            </a:extLst>
          </p:cNvPr>
          <p:cNvSpPr>
            <a:spLocks noGrp="1"/>
          </p:cNvSpPr>
          <p:nvPr/>
        </p:nvSpPr>
        <p:spPr>
          <a:xfrm>
            <a:off x="7524750" y="1556586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判断是自由问答、代码解释、报错解析、问题分解还是算法指导。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623AF14-E6F9-41F6-AB12-43E246A54182}"/>
              </a:ext>
            </a:extLst>
          </p:cNvPr>
          <p:cNvSpPr>
            <a:spLocks noGrp="1"/>
          </p:cNvSpPr>
          <p:nvPr/>
        </p:nvSpPr>
        <p:spPr>
          <a:xfrm>
            <a:off x="6019800" y="2365459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22A164-6FE6-4092-BAAD-6E8627B32C06}"/>
              </a:ext>
            </a:extLst>
          </p:cNvPr>
          <p:cNvSpPr>
            <a:spLocks noGrp="1"/>
          </p:cNvSpPr>
          <p:nvPr/>
        </p:nvSpPr>
        <p:spPr>
          <a:xfrm>
            <a:off x="6019800" y="2365459"/>
            <a:ext cx="54102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8A3F25-40D7-4AF9-BDA1-E8BF47FE16F1}"/>
              </a:ext>
            </a:extLst>
          </p:cNvPr>
          <p:cNvSpPr>
            <a:spLocks noGrp="1"/>
          </p:cNvSpPr>
          <p:nvPr/>
        </p:nvSpPr>
        <p:spPr>
          <a:xfrm>
            <a:off x="6286500" y="2565484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提示词构造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D93515-C745-45BB-8CCA-64351F051160}"/>
              </a:ext>
            </a:extLst>
          </p:cNvPr>
          <p:cNvSpPr>
            <a:spLocks noGrp="1"/>
          </p:cNvSpPr>
          <p:nvPr/>
        </p:nvSpPr>
        <p:spPr>
          <a:xfrm>
            <a:off x="7524750" y="2546434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结合课程语境、代码片段、错误信息和学生问题形成约束提示。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EA99F19-F813-45EA-A944-7E7247568B04}"/>
              </a:ext>
            </a:extLst>
          </p:cNvPr>
          <p:cNvSpPr>
            <a:spLocks noGrp="1"/>
          </p:cNvSpPr>
          <p:nvPr/>
        </p:nvSpPr>
        <p:spPr>
          <a:xfrm>
            <a:off x="6019800" y="3392064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55530F-963A-400C-BDB8-AC2A3562C547}"/>
              </a:ext>
            </a:extLst>
          </p:cNvPr>
          <p:cNvSpPr>
            <a:spLocks noGrp="1"/>
          </p:cNvSpPr>
          <p:nvPr/>
        </p:nvSpPr>
        <p:spPr>
          <a:xfrm>
            <a:off x="6019800" y="3392064"/>
            <a:ext cx="54102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98830A-F69A-41FD-BC89-B100C0FEEB8F}"/>
              </a:ext>
            </a:extLst>
          </p:cNvPr>
          <p:cNvSpPr>
            <a:spLocks noGrp="1"/>
          </p:cNvSpPr>
          <p:nvPr/>
        </p:nvSpPr>
        <p:spPr>
          <a:xfrm>
            <a:off x="6286500" y="3592089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教学化输出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43594E-A4D7-41F8-9C5C-2054EF0ACF5F}"/>
              </a:ext>
            </a:extLst>
          </p:cNvPr>
          <p:cNvSpPr>
            <a:spLocks noGrp="1"/>
          </p:cNvSpPr>
          <p:nvPr/>
        </p:nvSpPr>
        <p:spPr>
          <a:xfrm>
            <a:off x="7524750" y="3573039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控制语言难度，先解释概念，再给修改方向，避免直接给完整答案。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201D6F5-F55F-41E8-81D4-64A4281D8707}"/>
              </a:ext>
            </a:extLst>
          </p:cNvPr>
          <p:cNvSpPr>
            <a:spLocks noGrp="1"/>
          </p:cNvSpPr>
          <p:nvPr/>
        </p:nvSpPr>
        <p:spPr>
          <a:xfrm>
            <a:off x="6019800" y="4446206"/>
            <a:ext cx="5410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19C52C-C6BB-4F7F-8959-80A3389866EF}"/>
              </a:ext>
            </a:extLst>
          </p:cNvPr>
          <p:cNvSpPr>
            <a:spLocks noGrp="1"/>
          </p:cNvSpPr>
          <p:nvPr/>
        </p:nvSpPr>
        <p:spPr>
          <a:xfrm>
            <a:off x="6019800" y="4446206"/>
            <a:ext cx="54102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2DC127-B755-4E58-A644-A64FC48699B4}"/>
              </a:ext>
            </a:extLst>
          </p:cNvPr>
          <p:cNvSpPr>
            <a:spLocks noGrp="1"/>
          </p:cNvSpPr>
          <p:nvPr/>
        </p:nvSpPr>
        <p:spPr>
          <a:xfrm>
            <a:off x="6286500" y="4646231"/>
            <a:ext cx="1047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风险兜底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FB1971-0AFA-4748-8E1F-1FB841E759CC}"/>
              </a:ext>
            </a:extLst>
          </p:cNvPr>
          <p:cNvSpPr>
            <a:spLocks noGrp="1"/>
          </p:cNvSpPr>
          <p:nvPr/>
        </p:nvSpPr>
        <p:spPr>
          <a:xfrm>
            <a:off x="7524750" y="4627181"/>
            <a:ext cx="337185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对不确定、越界或无关请求进行降级提示，保留教师干预空间。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CCD5551-75D9-4A41-989D-2B3797531B91}"/>
              </a:ext>
            </a:extLst>
          </p:cNvPr>
          <p:cNvSpPr>
            <a:spLocks noGrp="1"/>
          </p:cNvSpPr>
          <p:nvPr/>
        </p:nvSpPr>
        <p:spPr>
          <a:xfrm>
            <a:off x="60579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E22C4F-623E-4A4A-A91B-4E3DAB720FC3}"/>
              </a:ext>
            </a:extLst>
          </p:cNvPr>
          <p:cNvSpPr>
            <a:spLocks noGrp="1"/>
          </p:cNvSpPr>
          <p:nvPr/>
        </p:nvSpPr>
        <p:spPr>
          <a:xfrm>
            <a:off x="61531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问答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CCE6B82-4659-468E-B4CD-C340A4F4383C}"/>
              </a:ext>
            </a:extLst>
          </p:cNvPr>
          <p:cNvSpPr>
            <a:spLocks noGrp="1"/>
          </p:cNvSpPr>
          <p:nvPr/>
        </p:nvSpPr>
        <p:spPr>
          <a:xfrm>
            <a:off x="69342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001D3D-662F-4072-B266-E9F31E9A0BD5}"/>
              </a:ext>
            </a:extLst>
          </p:cNvPr>
          <p:cNvSpPr>
            <a:spLocks noGrp="1"/>
          </p:cNvSpPr>
          <p:nvPr/>
        </p:nvSpPr>
        <p:spPr>
          <a:xfrm>
            <a:off x="70294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8A4DCFF-123F-48E3-870B-7485B1CB87C8}"/>
              </a:ext>
            </a:extLst>
          </p:cNvPr>
          <p:cNvSpPr>
            <a:spLocks noGrp="1"/>
          </p:cNvSpPr>
          <p:nvPr/>
        </p:nvSpPr>
        <p:spPr>
          <a:xfrm>
            <a:off x="78105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BD8599-A148-44E8-A57C-910C46FCC2F2}"/>
              </a:ext>
            </a:extLst>
          </p:cNvPr>
          <p:cNvSpPr>
            <a:spLocks noGrp="1"/>
          </p:cNvSpPr>
          <p:nvPr/>
        </p:nvSpPr>
        <p:spPr>
          <a:xfrm>
            <a:off x="79057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报错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1AE2EE04-FB45-4D8F-A13F-0F157123B3DF}"/>
              </a:ext>
            </a:extLst>
          </p:cNvPr>
          <p:cNvSpPr>
            <a:spLocks noGrp="1"/>
          </p:cNvSpPr>
          <p:nvPr/>
        </p:nvSpPr>
        <p:spPr>
          <a:xfrm>
            <a:off x="86868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0FE4F8-96FC-4A1A-9CC5-2B0EDF1839C9}"/>
              </a:ext>
            </a:extLst>
          </p:cNvPr>
          <p:cNvSpPr>
            <a:spLocks noGrp="1"/>
          </p:cNvSpPr>
          <p:nvPr/>
        </p:nvSpPr>
        <p:spPr>
          <a:xfrm>
            <a:off x="87820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拆题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BDDC11F-BA50-481C-8A48-2196FEBC751B}"/>
              </a:ext>
            </a:extLst>
          </p:cNvPr>
          <p:cNvSpPr>
            <a:spLocks noGrp="1"/>
          </p:cNvSpPr>
          <p:nvPr/>
        </p:nvSpPr>
        <p:spPr>
          <a:xfrm>
            <a:off x="95631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5CBE85-DFE4-467E-9BCD-5955F8A2C44F}"/>
              </a:ext>
            </a:extLst>
          </p:cNvPr>
          <p:cNvSpPr>
            <a:spLocks noGrp="1"/>
          </p:cNvSpPr>
          <p:nvPr/>
        </p:nvSpPr>
        <p:spPr>
          <a:xfrm>
            <a:off x="96583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建模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646DD5C3-6DC9-41B9-B67A-0B8CAF2E46BA}"/>
              </a:ext>
            </a:extLst>
          </p:cNvPr>
          <p:cNvSpPr>
            <a:spLocks noGrp="1"/>
          </p:cNvSpPr>
          <p:nvPr/>
        </p:nvSpPr>
        <p:spPr>
          <a:xfrm>
            <a:off x="10439400" y="5862298"/>
            <a:ext cx="666750" cy="28575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7C315B-A264-4CAA-8F14-8801E18F930A}"/>
              </a:ext>
            </a:extLst>
          </p:cNvPr>
          <p:cNvSpPr>
            <a:spLocks noGrp="1"/>
          </p:cNvSpPr>
          <p:nvPr/>
        </p:nvSpPr>
        <p:spPr>
          <a:xfrm>
            <a:off x="10534650" y="5928973"/>
            <a:ext cx="476250" cy="1619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448835-4ADB-4D8A-834C-BE0CA0AAFC2E}"/>
              </a:ext>
            </a:extLst>
          </p:cNvPr>
          <p:cNvSpPr>
            <a:spLocks noGrp="1"/>
          </p:cNvSpPr>
          <p:nvPr/>
        </p:nvSpPr>
        <p:spPr>
          <a:xfrm>
            <a:off x="6057900" y="6300448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输出原则：不做答案倾倒，提供可继续尝试的下一步。</a:t>
            </a:r>
          </a:p>
        </p:txBody>
      </p:sp>
    </p:spTree>
    <p:extLst>
      <p:ext uri="{BB962C8B-B14F-4D97-AF65-F5344CB8AC3E}">
        <p14:creationId xmlns:p14="http://schemas.microsoft.com/office/powerpoint/2010/main" val="159101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>
            <a:extLst>
              <a:ext uri="{FF2B5EF4-FFF2-40B4-BE49-F238E27FC236}">
                <a16:creationId xmlns:a16="http://schemas.microsoft.com/office/drawing/2014/main" id="{7E2C431D-5E27-4D65-A370-DC754653801A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9E9AE22-02C0-417F-AB5F-D8D97B02765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090640-6296-4A7D-8270-A5EA143F1B7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712B7B9-1093-46BC-ACAE-65CA7926C13A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85F3C-DD2A-4748-A7AE-8EBDF518033C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559331-BABD-4A56-83AE-A9C368FF4DAA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数据模型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285F52-80AD-4312-A469-C7271010F3E7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74014D-F839-42E3-8814-C717AB92F5DC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数据模型：业务表负责组织教学，records 负责沉淀学习过程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5583FC-A947-4B8F-8D14-58A1A64BBEC5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数据库设计服务于两件事：支撑平台业务运行，以及让学习过程可追踪、可分析。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E4B6F04-1C77-4C3E-B310-8F4653047C52}"/>
              </a:ext>
            </a:extLst>
          </p:cNvPr>
          <p:cNvSpPr>
            <a:spLocks noGrp="1"/>
          </p:cNvSpPr>
          <p:nvPr/>
        </p:nvSpPr>
        <p:spPr>
          <a:xfrm>
            <a:off x="533399" y="1409700"/>
            <a:ext cx="5759117" cy="458202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5453CE-153F-4A5A-9331-EFE7EBFE2E65}"/>
              </a:ext>
            </a:extLst>
          </p:cNvPr>
          <p:cNvSpPr>
            <a:spLocks noGrp="1"/>
          </p:cNvSpPr>
          <p:nvPr/>
        </p:nvSpPr>
        <p:spPr>
          <a:xfrm>
            <a:off x="533399" y="1409700"/>
            <a:ext cx="5759083" cy="82241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8887" y="1543050"/>
            <a:ext cx="5451001" cy="4276558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B21F760A-399F-487F-94E9-3418FF48A672}"/>
              </a:ext>
            </a:extLst>
          </p:cNvPr>
          <p:cNvSpPr>
            <a:spLocks noGrp="1"/>
          </p:cNvSpPr>
          <p:nvPr/>
        </p:nvSpPr>
        <p:spPr>
          <a:xfrm>
            <a:off x="7069555" y="1424239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E4C3B9-5F87-457C-A344-9FB4ADF9A7AC}"/>
              </a:ext>
            </a:extLst>
          </p:cNvPr>
          <p:cNvSpPr>
            <a:spLocks noGrp="1"/>
          </p:cNvSpPr>
          <p:nvPr/>
        </p:nvSpPr>
        <p:spPr>
          <a:xfrm>
            <a:off x="7069555" y="1424239"/>
            <a:ext cx="40957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B387F0-1C67-46BD-808C-A465EB2438ED}"/>
              </a:ext>
            </a:extLst>
          </p:cNvPr>
          <p:cNvSpPr>
            <a:spLocks noGrp="1"/>
          </p:cNvSpPr>
          <p:nvPr/>
        </p:nvSpPr>
        <p:spPr>
          <a:xfrm>
            <a:off x="7298155" y="1595689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身份与权限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3313C7-8169-4C87-B97E-23B6C659652D}"/>
              </a:ext>
            </a:extLst>
          </p:cNvPr>
          <p:cNvSpPr>
            <a:spLocks noGrp="1"/>
          </p:cNvSpPr>
          <p:nvPr/>
        </p:nvSpPr>
        <p:spPr>
          <a:xfrm>
            <a:off x="8326855" y="1576639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users、roles、JWT 认证信息，区分学生、教师和管理员。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0ABDEDE-E21E-48E6-B903-486F0222CAB2}"/>
              </a:ext>
            </a:extLst>
          </p:cNvPr>
          <p:cNvSpPr>
            <a:spLocks noGrp="1"/>
          </p:cNvSpPr>
          <p:nvPr/>
        </p:nvSpPr>
        <p:spPr>
          <a:xfrm>
            <a:off x="7069555" y="2224339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394C86-0B5A-4F93-B926-69C3B6F7F7C1}"/>
              </a:ext>
            </a:extLst>
          </p:cNvPr>
          <p:cNvSpPr>
            <a:spLocks noGrp="1"/>
          </p:cNvSpPr>
          <p:nvPr/>
        </p:nvSpPr>
        <p:spPr>
          <a:xfrm>
            <a:off x="7069555" y="2224339"/>
            <a:ext cx="40957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48EA1D-5C0D-4391-8875-5149E97A902F}"/>
              </a:ext>
            </a:extLst>
          </p:cNvPr>
          <p:cNvSpPr>
            <a:spLocks noGrp="1"/>
          </p:cNvSpPr>
          <p:nvPr/>
        </p:nvSpPr>
        <p:spPr>
          <a:xfrm>
            <a:off x="7298155" y="2395789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课程与内容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3B4DBB-113E-4336-B995-D75179498895}"/>
              </a:ext>
            </a:extLst>
          </p:cNvPr>
          <p:cNvSpPr>
            <a:spLocks noGrp="1"/>
          </p:cNvSpPr>
          <p:nvPr/>
        </p:nvSpPr>
        <p:spPr>
          <a:xfrm>
            <a:off x="8326855" y="2376739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courses、contents、tasks、knowledges，组织教学结构。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B52C645-75ED-4255-8F8D-C98F40D423E9}"/>
              </a:ext>
            </a:extLst>
          </p:cNvPr>
          <p:cNvSpPr>
            <a:spLocks noGrp="1"/>
          </p:cNvSpPr>
          <p:nvPr/>
        </p:nvSpPr>
        <p:spPr>
          <a:xfrm>
            <a:off x="7069555" y="3024439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C3F679-2360-4D7D-8956-55165DEE1C63}"/>
              </a:ext>
            </a:extLst>
          </p:cNvPr>
          <p:cNvSpPr>
            <a:spLocks noGrp="1"/>
          </p:cNvSpPr>
          <p:nvPr/>
        </p:nvSpPr>
        <p:spPr>
          <a:xfrm>
            <a:off x="7069555" y="3024439"/>
            <a:ext cx="40957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AADD83-5B9A-4BCB-8636-10BC5E15BCDE}"/>
              </a:ext>
            </a:extLst>
          </p:cNvPr>
          <p:cNvSpPr>
            <a:spLocks noGrp="1"/>
          </p:cNvSpPr>
          <p:nvPr/>
        </p:nvSpPr>
        <p:spPr>
          <a:xfrm>
            <a:off x="7298155" y="3195889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资源与互动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14291E-24BE-4C49-95C0-3B3488C17FE6}"/>
              </a:ext>
            </a:extLst>
          </p:cNvPr>
          <p:cNvSpPr>
            <a:spLocks noGrp="1"/>
          </p:cNvSpPr>
          <p:nvPr/>
        </p:nvSpPr>
        <p:spPr>
          <a:xfrm>
            <a:off x="8326855" y="3176839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resources、comments、likes、messages，支撑资料和师生互动。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35B0B71-C469-4D0C-976F-48B9D5180679}"/>
              </a:ext>
            </a:extLst>
          </p:cNvPr>
          <p:cNvSpPr>
            <a:spLocks noGrp="1"/>
          </p:cNvSpPr>
          <p:nvPr/>
        </p:nvSpPr>
        <p:spPr>
          <a:xfrm>
            <a:off x="7069555" y="3824539"/>
            <a:ext cx="4095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5D3170-0AF3-4179-8AD6-89498CCB5C81}"/>
              </a:ext>
            </a:extLst>
          </p:cNvPr>
          <p:cNvSpPr>
            <a:spLocks noGrp="1"/>
          </p:cNvSpPr>
          <p:nvPr/>
        </p:nvSpPr>
        <p:spPr>
          <a:xfrm>
            <a:off x="7069555" y="3824539"/>
            <a:ext cx="40957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B18DF4-2F7F-4080-94CC-2D69FE5B6C25}"/>
              </a:ext>
            </a:extLst>
          </p:cNvPr>
          <p:cNvSpPr>
            <a:spLocks noGrp="1"/>
          </p:cNvSpPr>
          <p:nvPr/>
        </p:nvSpPr>
        <p:spPr>
          <a:xfrm>
            <a:off x="7298155" y="3995989"/>
            <a:ext cx="895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学习过程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DF853E-D22A-47B7-9885-C8B2CFF67A79}"/>
              </a:ext>
            </a:extLst>
          </p:cNvPr>
          <p:cNvSpPr>
            <a:spLocks noGrp="1"/>
          </p:cNvSpPr>
          <p:nvPr/>
        </p:nvSpPr>
        <p:spPr>
          <a:xfrm>
            <a:off x="8326855" y="3976939"/>
            <a:ext cx="2381250" cy="2381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records 记录访问、运行、输入输出、错误类型和关键行为。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44D10B0-A27B-4BDD-BC9C-CCC24314D60E}"/>
              </a:ext>
            </a:extLst>
          </p:cNvPr>
          <p:cNvSpPr>
            <a:spLocks noGrp="1"/>
          </p:cNvSpPr>
          <p:nvPr/>
        </p:nvSpPr>
        <p:spPr>
          <a:xfrm>
            <a:off x="7069555" y="5212333"/>
            <a:ext cx="4095750" cy="779393"/>
          </a:xfrm>
          <a:prstGeom prst="roundRect">
            <a:avLst>
              <a:gd name="adj" fmla="val 12500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1E1B1B-DD39-447E-BB91-8025A0AC25FD}"/>
              </a:ext>
            </a:extLst>
          </p:cNvPr>
          <p:cNvSpPr>
            <a:spLocks noGrp="1"/>
          </p:cNvSpPr>
          <p:nvPr/>
        </p:nvSpPr>
        <p:spPr>
          <a:xfrm>
            <a:off x="7298155" y="5402834"/>
            <a:ext cx="1524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A67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A6700"/>
                </a:solidFill>
                <a:latin typeface="PingFang SC"/>
                <a:ea typeface="PingFang SC"/>
                <a:cs typeface="PingFang SC"/>
              </a:rPr>
              <a:t>为什么强调 records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B443AF-FE09-4B1E-AC80-1CB3EF07EFDF}"/>
              </a:ext>
            </a:extLst>
          </p:cNvPr>
          <p:cNvSpPr>
            <a:spLocks noGrp="1"/>
          </p:cNvSpPr>
          <p:nvPr/>
        </p:nvSpPr>
        <p:spPr>
          <a:xfrm>
            <a:off x="7298155" y="5631434"/>
            <a:ext cx="3333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它是从“平台功能”走向“学习分析”的关键中间层，后续可接入学习画像、个性化推荐和课堂实验评估。</a:t>
            </a:r>
          </a:p>
        </p:txBody>
      </p:sp>
    </p:spTree>
    <p:extLst>
      <p:ext uri="{BB962C8B-B14F-4D97-AF65-F5344CB8AC3E}">
        <p14:creationId xmlns:p14="http://schemas.microsoft.com/office/powerpoint/2010/main" val="22152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椭圆 98">
            <a:extLst>
              <a:ext uri="{FF2B5EF4-FFF2-40B4-BE49-F238E27FC236}">
                <a16:creationId xmlns:a16="http://schemas.microsoft.com/office/drawing/2014/main" id="{496C5BF9-C63E-4EDC-9589-18FF1D92EC52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366B094-31DB-4220-BBED-77EA1EFDEAC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5C985E0-A10C-4834-8261-A7F6B04B023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B0C4D04-3142-4195-A162-31FA3D5EBFD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E7EFC9-B739-43BE-B246-4EAE6703DC9B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17DEC7-5F10-447A-9051-0A0363CDD315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功能验证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3C9D0E-D310-465F-A0D5-794B5145A47A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D41E8B-B238-4644-9E52-1F2391A61C5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验证结果：核心链路、代码执行与权限控制已通过功能测试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2F6C6-4774-42D2-9524-47C9604CF6A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本阶段验证系统可用性；教学效果还需要后续课堂实验和量化评价。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C1B016-E6C6-43D2-9058-142AD1BE162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619750" cy="285750"/>
          </a:xfrm>
          <a:prstGeom prst="rect">
            <a:avLst/>
          </a:prstGeom>
          <a:solidFill>
            <a:srgbClr val="E8F0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D40455-1515-4686-AE5B-A22AD63CC49C}"/>
              </a:ext>
            </a:extLst>
          </p:cNvPr>
          <p:cNvSpPr>
            <a:spLocks noGrp="1"/>
          </p:cNvSpPr>
          <p:nvPr/>
        </p:nvSpPr>
        <p:spPr>
          <a:xfrm>
            <a:off x="628650" y="1495425"/>
            <a:ext cx="409575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编号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7A9BC9-D45D-4BB4-BEA1-F2CBAF334C4B}"/>
              </a:ext>
            </a:extLst>
          </p:cNvPr>
          <p:cNvSpPr>
            <a:spLocks noGrp="1"/>
          </p:cNvSpPr>
          <p:nvPr/>
        </p:nvSpPr>
        <p:spPr>
          <a:xfrm>
            <a:off x="1190625" y="1495425"/>
            <a:ext cx="142113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测试点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71D49E-96D5-486A-B330-E4EA91E424B9}"/>
              </a:ext>
            </a:extLst>
          </p:cNvPr>
          <p:cNvSpPr>
            <a:spLocks noGrp="1"/>
          </p:cNvSpPr>
          <p:nvPr/>
        </p:nvSpPr>
        <p:spPr>
          <a:xfrm>
            <a:off x="2764155" y="1495425"/>
            <a:ext cx="1983105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预期结果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984EF2-6141-480B-B61F-76BD0754585B}"/>
              </a:ext>
            </a:extLst>
          </p:cNvPr>
          <p:cNvSpPr>
            <a:spLocks noGrp="1"/>
          </p:cNvSpPr>
          <p:nvPr/>
        </p:nvSpPr>
        <p:spPr>
          <a:xfrm>
            <a:off x="4899660" y="1495425"/>
            <a:ext cx="119634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74508E-BF86-413C-A4A0-87774179EFF3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90A068-877F-481C-BCD3-433B3F4C05B4}"/>
              </a:ext>
            </a:extLst>
          </p:cNvPr>
          <p:cNvSpPr>
            <a:spLocks noGrp="1"/>
          </p:cNvSpPr>
          <p:nvPr/>
        </p:nvSpPr>
        <p:spPr>
          <a:xfrm>
            <a:off x="628650" y="1781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BA0D4F-1E55-4F97-A9CA-18BC0779CF01}"/>
              </a:ext>
            </a:extLst>
          </p:cNvPr>
          <p:cNvSpPr>
            <a:spLocks noGrp="1"/>
          </p:cNvSpPr>
          <p:nvPr/>
        </p:nvSpPr>
        <p:spPr>
          <a:xfrm>
            <a:off x="1190625" y="1781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教师登录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12444C-0076-46E4-96C7-7194A6177A2F}"/>
              </a:ext>
            </a:extLst>
          </p:cNvPr>
          <p:cNvSpPr>
            <a:spLocks noGrp="1"/>
          </p:cNvSpPr>
          <p:nvPr/>
        </p:nvSpPr>
        <p:spPr>
          <a:xfrm>
            <a:off x="2764155" y="1781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JWT 返回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506EF1-D650-49C0-9134-2AD303F40055}"/>
              </a:ext>
            </a:extLst>
          </p:cNvPr>
          <p:cNvSpPr>
            <a:spLocks noGrp="1"/>
          </p:cNvSpPr>
          <p:nvPr/>
        </p:nvSpPr>
        <p:spPr>
          <a:xfrm>
            <a:off x="4899660" y="1781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F9A810-1169-4107-8242-948FDF48557C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F9EE8E-D3FD-4004-99BD-14C760516772}"/>
              </a:ext>
            </a:extLst>
          </p:cNvPr>
          <p:cNvSpPr>
            <a:spLocks noGrp="1"/>
          </p:cNvSpPr>
          <p:nvPr/>
        </p:nvSpPr>
        <p:spPr>
          <a:xfrm>
            <a:off x="628650" y="2066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45EE85-BE35-465F-93BE-FCB2FD6C7F38}"/>
              </a:ext>
            </a:extLst>
          </p:cNvPr>
          <p:cNvSpPr>
            <a:spLocks noGrp="1"/>
          </p:cNvSpPr>
          <p:nvPr/>
        </p:nvSpPr>
        <p:spPr>
          <a:xfrm>
            <a:off x="1190625" y="2066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错误课程码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A9B5A93-BD28-4C1C-AE93-46D9C0DD5EB7}"/>
              </a:ext>
            </a:extLst>
          </p:cNvPr>
          <p:cNvSpPr>
            <a:spLocks noGrp="1"/>
          </p:cNvSpPr>
          <p:nvPr/>
        </p:nvSpPr>
        <p:spPr>
          <a:xfrm>
            <a:off x="2764155" y="2066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403 拒绝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2E2B6C-5064-47F9-88A9-B61D757109C2}"/>
              </a:ext>
            </a:extLst>
          </p:cNvPr>
          <p:cNvSpPr>
            <a:spLocks noGrp="1"/>
          </p:cNvSpPr>
          <p:nvPr/>
        </p:nvSpPr>
        <p:spPr>
          <a:xfrm>
            <a:off x="4899660" y="2066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7689AA-7FAE-4A00-B069-893EE0A28827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DEBA4-283C-4F49-813B-460EAD35F10C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906AF7-3D19-4184-B169-30C2FD9F7293}"/>
              </a:ext>
            </a:extLst>
          </p:cNvPr>
          <p:cNvSpPr>
            <a:spLocks noGrp="1"/>
          </p:cNvSpPr>
          <p:nvPr/>
        </p:nvSpPr>
        <p:spPr>
          <a:xfrm>
            <a:off x="1190625" y="2352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未认证访问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D13B8E-1499-4A8D-B3A8-BB2D6E9DA293}"/>
              </a:ext>
            </a:extLst>
          </p:cNvPr>
          <p:cNvSpPr>
            <a:spLocks noGrp="1"/>
          </p:cNvSpPr>
          <p:nvPr/>
        </p:nvSpPr>
        <p:spPr>
          <a:xfrm>
            <a:off x="2764155" y="2352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401 拒绝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9F341B-2022-4093-A474-8B142700CB35}"/>
              </a:ext>
            </a:extLst>
          </p:cNvPr>
          <p:cNvSpPr>
            <a:spLocks noGrp="1"/>
          </p:cNvSpPr>
          <p:nvPr/>
        </p:nvSpPr>
        <p:spPr>
          <a:xfrm>
            <a:off x="4899660" y="2352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3C6AC7-A2B6-46A9-833C-731A8C582157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926F1B-1168-4490-AE12-DD7F417CF351}"/>
              </a:ext>
            </a:extLst>
          </p:cNvPr>
          <p:cNvSpPr>
            <a:spLocks noGrp="1"/>
          </p:cNvSpPr>
          <p:nvPr/>
        </p:nvSpPr>
        <p:spPr>
          <a:xfrm>
            <a:off x="628650" y="2638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86B02A-D59B-441D-BD59-E545491C92CA}"/>
              </a:ext>
            </a:extLst>
          </p:cNvPr>
          <p:cNvSpPr>
            <a:spLocks noGrp="1"/>
          </p:cNvSpPr>
          <p:nvPr/>
        </p:nvSpPr>
        <p:spPr>
          <a:xfrm>
            <a:off x="1190625" y="2638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print(1+1)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D3F28A9-FEEC-44C3-A69A-D11AC08A55F2}"/>
              </a:ext>
            </a:extLst>
          </p:cNvPr>
          <p:cNvSpPr>
            <a:spLocks noGrp="1"/>
          </p:cNvSpPr>
          <p:nvPr/>
        </p:nvSpPr>
        <p:spPr>
          <a:xfrm>
            <a:off x="2764155" y="2638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输出 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BA45B5-9005-4E97-A90B-CE5497CA6BB4}"/>
              </a:ext>
            </a:extLst>
          </p:cNvPr>
          <p:cNvSpPr>
            <a:spLocks noGrp="1"/>
          </p:cNvSpPr>
          <p:nvPr/>
        </p:nvSpPr>
        <p:spPr>
          <a:xfrm>
            <a:off x="4899660" y="2638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C289ABA-19B5-4455-95B2-A484CABDDF5D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61F940-21B5-444F-BEB9-17B8E7DA9703}"/>
              </a:ext>
            </a:extLst>
          </p:cNvPr>
          <p:cNvSpPr>
            <a:spLocks noGrp="1"/>
          </p:cNvSpPr>
          <p:nvPr/>
        </p:nvSpPr>
        <p:spPr>
          <a:xfrm>
            <a:off x="628650" y="2924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16328D1-27BB-48BC-8238-00E38CEF0232}"/>
              </a:ext>
            </a:extLst>
          </p:cNvPr>
          <p:cNvSpPr>
            <a:spLocks noGrp="1"/>
          </p:cNvSpPr>
          <p:nvPr/>
        </p:nvSpPr>
        <p:spPr>
          <a:xfrm>
            <a:off x="1190625" y="2924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import os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F682295-E1A0-4ED1-AEA9-2CF6000E3C9B}"/>
              </a:ext>
            </a:extLst>
          </p:cNvPr>
          <p:cNvSpPr>
            <a:spLocks noGrp="1"/>
          </p:cNvSpPr>
          <p:nvPr/>
        </p:nvSpPr>
        <p:spPr>
          <a:xfrm>
            <a:off x="2764155" y="2924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SecurityError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662BDE-3DB5-41E0-A484-ABB61AFB27F4}"/>
              </a:ext>
            </a:extLst>
          </p:cNvPr>
          <p:cNvSpPr>
            <a:spLocks noGrp="1"/>
          </p:cNvSpPr>
          <p:nvPr/>
        </p:nvSpPr>
        <p:spPr>
          <a:xfrm>
            <a:off x="4899660" y="2924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27E87E0-A6D6-4462-B015-5EEF72CFA900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6E9EF9-2B88-4AB0-A22D-836C9F114AC7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3DAEA0D-78AC-41E0-BB85-04D269E3300C}"/>
              </a:ext>
            </a:extLst>
          </p:cNvPr>
          <p:cNvSpPr>
            <a:spLocks noGrp="1"/>
          </p:cNvSpPr>
          <p:nvPr/>
        </p:nvSpPr>
        <p:spPr>
          <a:xfrm>
            <a:off x="1190625" y="3209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无限循环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549B9B6-FC1E-4BA6-A151-23E78668DD1B}"/>
              </a:ext>
            </a:extLst>
          </p:cNvPr>
          <p:cNvSpPr>
            <a:spLocks noGrp="1"/>
          </p:cNvSpPr>
          <p:nvPr/>
        </p:nvSpPr>
        <p:spPr>
          <a:xfrm>
            <a:off x="2764155" y="3209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迭代限制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47016C9-1B09-421D-91D2-18D8C9FFCBEB}"/>
              </a:ext>
            </a:extLst>
          </p:cNvPr>
          <p:cNvSpPr>
            <a:spLocks noGrp="1"/>
          </p:cNvSpPr>
          <p:nvPr/>
        </p:nvSpPr>
        <p:spPr>
          <a:xfrm>
            <a:off x="4899660" y="3209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29D5CF2-7A14-4F52-90B8-E5F415D974FA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BFEF1F2-CFD0-4E83-917B-5469C7AC6F6B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F23C5E-3BC1-4AC5-9042-4CC968D0DD03}"/>
              </a:ext>
            </a:extLst>
          </p:cNvPr>
          <p:cNvSpPr>
            <a:spLocks noGrp="1"/>
          </p:cNvSpPr>
          <p:nvPr/>
        </p:nvSpPr>
        <p:spPr>
          <a:xfrm>
            <a:off x="1190625" y="3495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语法错误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26B7D8-1BD2-4346-87B1-864609F042C3}"/>
              </a:ext>
            </a:extLst>
          </p:cNvPr>
          <p:cNvSpPr>
            <a:spLocks noGrp="1"/>
          </p:cNvSpPr>
          <p:nvPr/>
        </p:nvSpPr>
        <p:spPr>
          <a:xfrm>
            <a:off x="2764155" y="3495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解释位置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D38D413-15A8-4C58-8B73-FD0DBFF8F9D3}"/>
              </a:ext>
            </a:extLst>
          </p:cNvPr>
          <p:cNvSpPr>
            <a:spLocks noGrp="1"/>
          </p:cNvSpPr>
          <p:nvPr/>
        </p:nvSpPr>
        <p:spPr>
          <a:xfrm>
            <a:off x="4899660" y="3495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F23ED15-1C4B-4BCD-B59B-9574B5790376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7BE928-3812-4153-BAA2-0737DDD44D8D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T8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026CF54-2717-4297-8415-EF98982FBF39}"/>
              </a:ext>
            </a:extLst>
          </p:cNvPr>
          <p:cNvSpPr>
            <a:spLocks noGrp="1"/>
          </p:cNvSpPr>
          <p:nvPr/>
        </p:nvSpPr>
        <p:spPr>
          <a:xfrm>
            <a:off x="1190625" y="3781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教师消息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6C376F7-CC99-4ED7-9244-ECCD728959C8}"/>
              </a:ext>
            </a:extLst>
          </p:cNvPr>
          <p:cNvSpPr>
            <a:spLocks noGrp="1"/>
          </p:cNvSpPr>
          <p:nvPr/>
        </p:nvSpPr>
        <p:spPr>
          <a:xfrm>
            <a:off x="2764155" y="3781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学生接收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618C890-E12B-47AF-B92E-6BAFFCCFC7CE}"/>
              </a:ext>
            </a:extLst>
          </p:cNvPr>
          <p:cNvSpPr>
            <a:spLocks noGrp="1"/>
          </p:cNvSpPr>
          <p:nvPr/>
        </p:nvSpPr>
        <p:spPr>
          <a:xfrm>
            <a:off x="4899660" y="3781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4CBB08A-DB1F-402D-98EB-6C9F63639231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49ECF73-A132-4F8B-85B9-6E17D267C954}"/>
              </a:ext>
            </a:extLst>
          </p:cNvPr>
          <p:cNvSpPr>
            <a:spLocks noGrp="1"/>
          </p:cNvSpPr>
          <p:nvPr/>
        </p:nvSpPr>
        <p:spPr>
          <a:xfrm>
            <a:off x="628650" y="40671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T9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9EE467B-F60B-40D1-8B0E-04FEB0867172}"/>
              </a:ext>
            </a:extLst>
          </p:cNvPr>
          <p:cNvSpPr>
            <a:spLocks noGrp="1"/>
          </p:cNvSpPr>
          <p:nvPr/>
        </p:nvSpPr>
        <p:spPr>
          <a:xfrm>
            <a:off x="1190625" y="40671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对话历史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8E5526-EC43-41A8-8DF8-618E3BF140E3}"/>
              </a:ext>
            </a:extLst>
          </p:cNvPr>
          <p:cNvSpPr>
            <a:spLocks noGrp="1"/>
          </p:cNvSpPr>
          <p:nvPr/>
        </p:nvSpPr>
        <p:spPr>
          <a:xfrm>
            <a:off x="2764155" y="40671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正确返回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C684ABC-ED67-428C-B455-9C5F2A63FC3F}"/>
              </a:ext>
            </a:extLst>
          </p:cNvPr>
          <p:cNvSpPr>
            <a:spLocks noGrp="1"/>
          </p:cNvSpPr>
          <p:nvPr/>
        </p:nvSpPr>
        <p:spPr>
          <a:xfrm>
            <a:off x="4899660" y="40671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D52B12A-271B-4EF9-B34F-831FCBB62B6B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7DF849C-69F6-4849-AF3C-B2D2E1B302F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T10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DDBA61-FAA2-47EA-8D1D-F7A1AA694DAA}"/>
              </a:ext>
            </a:extLst>
          </p:cNvPr>
          <p:cNvSpPr>
            <a:spLocks noGrp="1"/>
          </p:cNvSpPr>
          <p:nvPr/>
        </p:nvSpPr>
        <p:spPr>
          <a:xfrm>
            <a:off x="1190625" y="43529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资源权限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E4A0FD0-EDDA-4FBB-91DC-62B2FCE15117}"/>
              </a:ext>
            </a:extLst>
          </p:cNvPr>
          <p:cNvSpPr>
            <a:spLocks noGrp="1"/>
          </p:cNvSpPr>
          <p:nvPr/>
        </p:nvSpPr>
        <p:spPr>
          <a:xfrm>
            <a:off x="2764155" y="43529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更新成功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B68D070-C8A2-4730-AC9A-E0F311715E09}"/>
              </a:ext>
            </a:extLst>
          </p:cNvPr>
          <p:cNvSpPr>
            <a:spLocks noGrp="1"/>
          </p:cNvSpPr>
          <p:nvPr/>
        </p:nvSpPr>
        <p:spPr>
          <a:xfrm>
            <a:off x="4899660" y="43529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87DAF3E-1D77-42D4-AF9A-F16B25521F58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5619750" cy="285750"/>
          </a:xfrm>
          <a:prstGeom prst="rect">
            <a:avLst/>
          </a:prstGeom>
          <a:solidFill>
            <a:srgbClr val="F8FAFE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C76C67C-F17C-4058-BE72-C8744E67C625}"/>
              </a:ext>
            </a:extLst>
          </p:cNvPr>
          <p:cNvSpPr>
            <a:spLocks noGrp="1"/>
          </p:cNvSpPr>
          <p:nvPr/>
        </p:nvSpPr>
        <p:spPr>
          <a:xfrm>
            <a:off x="628650" y="463867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3661F00-FFD6-4752-8023-0362053208EC}"/>
              </a:ext>
            </a:extLst>
          </p:cNvPr>
          <p:cNvSpPr>
            <a:spLocks noGrp="1"/>
          </p:cNvSpPr>
          <p:nvPr/>
        </p:nvSpPr>
        <p:spPr>
          <a:xfrm>
            <a:off x="1190625" y="463867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权限查询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3662688-16CE-4C97-987D-EC3207B4002B}"/>
              </a:ext>
            </a:extLst>
          </p:cNvPr>
          <p:cNvSpPr>
            <a:spLocks noGrp="1"/>
          </p:cNvSpPr>
          <p:nvPr/>
        </p:nvSpPr>
        <p:spPr>
          <a:xfrm>
            <a:off x="2764155" y="463867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返回授权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398C570-5B06-4F6B-922B-B63053055863}"/>
              </a:ext>
            </a:extLst>
          </p:cNvPr>
          <p:cNvSpPr>
            <a:spLocks noGrp="1"/>
          </p:cNvSpPr>
          <p:nvPr/>
        </p:nvSpPr>
        <p:spPr>
          <a:xfrm>
            <a:off x="4899660" y="463867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7CED93A-D663-4178-9A7C-A5F1FF7C8401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5619750" cy="285750"/>
          </a:xfrm>
          <a:prstGeom prst="rect">
            <a:avLst/>
          </a:prstGeom>
          <a:solidFill>
            <a:srgbClr val="FFFFFF"/>
          </a:solidFill>
          <a:ln w="6668">
            <a:solidFill>
              <a:srgbClr val="DADCE0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D762DE4-975E-41A0-A4B0-74BAB2D544DB}"/>
              </a:ext>
            </a:extLst>
          </p:cNvPr>
          <p:cNvSpPr>
            <a:spLocks noGrp="1"/>
          </p:cNvSpPr>
          <p:nvPr/>
        </p:nvSpPr>
        <p:spPr>
          <a:xfrm>
            <a:off x="628650" y="4924425"/>
            <a:ext cx="4095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T12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EFA0B7B-C34C-4E86-B015-D16D2ECA1555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142113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课程内容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0CDBA4B-7338-455D-B123-AD98B6D912CC}"/>
              </a:ext>
            </a:extLst>
          </p:cNvPr>
          <p:cNvSpPr>
            <a:spLocks noGrp="1"/>
          </p:cNvSpPr>
          <p:nvPr/>
        </p:nvSpPr>
        <p:spPr>
          <a:xfrm>
            <a:off x="2764155" y="4924425"/>
            <a:ext cx="198310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结构返回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93A6ED8-8B21-4B4A-8A0D-626685AB2675}"/>
              </a:ext>
            </a:extLst>
          </p:cNvPr>
          <p:cNvSpPr>
            <a:spLocks noGrp="1"/>
          </p:cNvSpPr>
          <p:nvPr/>
        </p:nvSpPr>
        <p:spPr>
          <a:xfrm>
            <a:off x="4899660" y="4924425"/>
            <a:ext cx="119634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9211EA7C-7A9F-4E15-8BC0-85E140C89ABB}"/>
              </a:ext>
            </a:extLst>
          </p:cNvPr>
          <p:cNvSpPr>
            <a:spLocks noGrp="1"/>
          </p:cNvSpPr>
          <p:nvPr/>
        </p:nvSpPr>
        <p:spPr>
          <a:xfrm>
            <a:off x="7315200" y="15240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A5ADCF3-ABC1-48AC-905D-CBBE2CF7BCF1}"/>
              </a:ext>
            </a:extLst>
          </p:cNvPr>
          <p:cNvSpPr>
            <a:spLocks noGrp="1"/>
          </p:cNvSpPr>
          <p:nvPr/>
        </p:nvSpPr>
        <p:spPr>
          <a:xfrm>
            <a:off x="7315200" y="1524000"/>
            <a:ext cx="19240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3F10F4C-A984-4FD5-BDDA-2D9A6F10CF0C}"/>
              </a:ext>
            </a:extLst>
          </p:cNvPr>
          <p:cNvSpPr>
            <a:spLocks noGrp="1"/>
          </p:cNvSpPr>
          <p:nvPr/>
        </p:nvSpPr>
        <p:spPr>
          <a:xfrm>
            <a:off x="7486650" y="17145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12/12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2BF7F38-7280-4842-B112-191145832CC5}"/>
              </a:ext>
            </a:extLst>
          </p:cNvPr>
          <p:cNvSpPr>
            <a:spLocks noGrp="1"/>
          </p:cNvSpPr>
          <p:nvPr/>
        </p:nvSpPr>
        <p:spPr>
          <a:xfrm>
            <a:off x="7486650" y="20193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功能测试通过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D8240A0-FBF9-4698-8F46-03E23490EA27}"/>
              </a:ext>
            </a:extLst>
          </p:cNvPr>
          <p:cNvSpPr>
            <a:spLocks noGrp="1"/>
          </p:cNvSpPr>
          <p:nvPr/>
        </p:nvSpPr>
        <p:spPr>
          <a:xfrm>
            <a:off x="7486650" y="21907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覆盖认证、权限、执行、消息、资源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4FD77FC7-AD44-45FC-88EF-65BE73B05429}"/>
              </a:ext>
            </a:extLst>
          </p:cNvPr>
          <p:cNvSpPr>
            <a:spLocks noGrp="1"/>
          </p:cNvSpPr>
          <p:nvPr/>
        </p:nvSpPr>
        <p:spPr>
          <a:xfrm>
            <a:off x="9505950" y="15240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4DDEC9D-3992-42A7-9B0E-B4CD3FA56BD8}"/>
              </a:ext>
            </a:extLst>
          </p:cNvPr>
          <p:cNvSpPr>
            <a:spLocks noGrp="1"/>
          </p:cNvSpPr>
          <p:nvPr/>
        </p:nvSpPr>
        <p:spPr>
          <a:xfrm>
            <a:off x="9505950" y="1524000"/>
            <a:ext cx="19240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9ED906C-884C-426D-B00E-1471B8E28E3C}"/>
              </a:ext>
            </a:extLst>
          </p:cNvPr>
          <p:cNvSpPr>
            <a:spLocks noGrp="1"/>
          </p:cNvSpPr>
          <p:nvPr/>
        </p:nvSpPr>
        <p:spPr>
          <a:xfrm>
            <a:off x="9677400" y="17145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&lt;100ms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95F2A7A-62F3-4670-9280-C5FFBBF448E1}"/>
              </a:ext>
            </a:extLst>
          </p:cNvPr>
          <p:cNvSpPr>
            <a:spLocks noGrp="1"/>
          </p:cNvSpPr>
          <p:nvPr/>
        </p:nvSpPr>
        <p:spPr>
          <a:xfrm>
            <a:off x="9677400" y="20193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基础代码运行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AEA98F1-D6EF-4844-B69E-B65B28A262A2}"/>
              </a:ext>
            </a:extLst>
          </p:cNvPr>
          <p:cNvSpPr>
            <a:spLocks noGrp="1"/>
          </p:cNvSpPr>
          <p:nvPr/>
        </p:nvSpPr>
        <p:spPr>
          <a:xfrm>
            <a:off x="9677400" y="21907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典型 Python 基础示例本地执行</a:t>
            </a: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A9768DC0-6D35-46D8-AA50-8ACB251421E5}"/>
              </a:ext>
            </a:extLst>
          </p:cNvPr>
          <p:cNvSpPr>
            <a:spLocks noGrp="1"/>
          </p:cNvSpPr>
          <p:nvPr/>
        </p:nvSpPr>
        <p:spPr>
          <a:xfrm>
            <a:off x="7315200" y="27051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07FBEC2-8130-460F-A8ED-218F7C1078B6}"/>
              </a:ext>
            </a:extLst>
          </p:cNvPr>
          <p:cNvSpPr>
            <a:spLocks noGrp="1"/>
          </p:cNvSpPr>
          <p:nvPr/>
        </p:nvSpPr>
        <p:spPr>
          <a:xfrm>
            <a:off x="7315200" y="2705100"/>
            <a:ext cx="19240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39656E2-6D3E-4AF7-A8E4-8CCB4B8FA8AB}"/>
              </a:ext>
            </a:extLst>
          </p:cNvPr>
          <p:cNvSpPr>
            <a:spLocks noGrp="1"/>
          </p:cNvSpPr>
          <p:nvPr/>
        </p:nvSpPr>
        <p:spPr>
          <a:xfrm>
            <a:off x="7486650" y="28956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1-3s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9E36ACE-3D7F-4028-98B1-F56694215FD1}"/>
              </a:ext>
            </a:extLst>
          </p:cNvPr>
          <p:cNvSpPr>
            <a:spLocks noGrp="1"/>
          </p:cNvSpPr>
          <p:nvPr/>
        </p:nvSpPr>
        <p:spPr>
          <a:xfrm>
            <a:off x="7486650" y="32004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模型响应区间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341A9DC-BE5F-4591-9EB6-390A53A005C6}"/>
              </a:ext>
            </a:extLst>
          </p:cNvPr>
          <p:cNvSpPr>
            <a:spLocks noGrp="1"/>
          </p:cNvSpPr>
          <p:nvPr/>
        </p:nvSpPr>
        <p:spPr>
          <a:xfrm>
            <a:off x="7486650" y="33718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DashScope 常见响应时间</a:t>
            </a:r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6A0C3D60-A3BC-4D3B-989B-3898FF42E71D}"/>
              </a:ext>
            </a:extLst>
          </p:cNvPr>
          <p:cNvSpPr>
            <a:spLocks noGrp="1"/>
          </p:cNvSpPr>
          <p:nvPr/>
        </p:nvSpPr>
        <p:spPr>
          <a:xfrm>
            <a:off x="9505950" y="2705100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7B364E-9412-41D5-85F4-F62A8B88A965}"/>
              </a:ext>
            </a:extLst>
          </p:cNvPr>
          <p:cNvSpPr>
            <a:spLocks noGrp="1"/>
          </p:cNvSpPr>
          <p:nvPr/>
        </p:nvSpPr>
        <p:spPr>
          <a:xfrm>
            <a:off x="9505950" y="2705100"/>
            <a:ext cx="19240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C7C17B8-B10A-4AAA-B172-76F5BC603212}"/>
              </a:ext>
            </a:extLst>
          </p:cNvPr>
          <p:cNvSpPr>
            <a:spLocks noGrp="1"/>
          </p:cNvSpPr>
          <p:nvPr/>
        </p:nvSpPr>
        <p:spPr>
          <a:xfrm>
            <a:off x="9677400" y="2895600"/>
            <a:ext cx="158115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8C16G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D5FF627-E023-4000-80AF-91B565E03E7E}"/>
              </a:ext>
            </a:extLst>
          </p:cNvPr>
          <p:cNvSpPr>
            <a:spLocks noGrp="1"/>
          </p:cNvSpPr>
          <p:nvPr/>
        </p:nvSpPr>
        <p:spPr>
          <a:xfrm>
            <a:off x="9677400" y="3200400"/>
            <a:ext cx="15811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部署资源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8E739E5-A305-41B8-B270-BAC0242419F7}"/>
              </a:ext>
            </a:extLst>
          </p:cNvPr>
          <p:cNvSpPr>
            <a:spLocks noGrp="1"/>
          </p:cNvSpPr>
          <p:nvPr/>
        </p:nvSpPr>
        <p:spPr>
          <a:xfrm>
            <a:off x="9677400" y="3371850"/>
            <a:ext cx="158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Uvicorn 12 workers / 1000 连接限制</a:t>
            </a:r>
          </a:p>
        </p:txBody>
      </p: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325F3814-19A3-4F53-945B-A8B7495E76C6}"/>
              </a:ext>
            </a:extLst>
          </p:cNvPr>
          <p:cNvSpPr>
            <a:spLocks noGrp="1"/>
          </p:cNvSpPr>
          <p:nvPr/>
        </p:nvSpPr>
        <p:spPr>
          <a:xfrm>
            <a:off x="7315200" y="4095750"/>
            <a:ext cx="41148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3BD6F46-0A42-4C87-8947-46EF6B1F9291}"/>
              </a:ext>
            </a:extLst>
          </p:cNvPr>
          <p:cNvSpPr>
            <a:spLocks noGrp="1"/>
          </p:cNvSpPr>
          <p:nvPr/>
        </p:nvSpPr>
        <p:spPr>
          <a:xfrm>
            <a:off x="7315200" y="4095750"/>
            <a:ext cx="41148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06953C7-71DD-4971-9F66-1C92A58C9189}"/>
              </a:ext>
            </a:extLst>
          </p:cNvPr>
          <p:cNvSpPr>
            <a:spLocks noGrp="1"/>
          </p:cNvSpPr>
          <p:nvPr/>
        </p:nvSpPr>
        <p:spPr>
          <a:xfrm>
            <a:off x="7581900" y="4324350"/>
            <a:ext cx="9906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验证边界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8FA069B-578F-40D2-98B1-5F5299D44AB3}"/>
              </a:ext>
            </a:extLst>
          </p:cNvPr>
          <p:cNvSpPr>
            <a:spLocks noGrp="1"/>
          </p:cNvSpPr>
          <p:nvPr/>
        </p:nvSpPr>
        <p:spPr>
          <a:xfrm>
            <a:off x="7581900" y="4629150"/>
            <a:ext cx="331470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已经验证系统主要流程和工程可用性。</a:t>
            </a:r>
          </a:p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尚未完成大规模真实课堂对照实验。</a:t>
            </a:r>
          </a:p>
          <a:p>
            <a:pPr algn="l">
              <a:def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• 后续需要结合学习成绩、完成率和教师评价验证教学效果。</a:t>
            </a:r>
          </a:p>
        </p:txBody>
      </p:sp>
    </p:spTree>
    <p:extLst>
      <p:ext uri="{BB962C8B-B14F-4D97-AF65-F5344CB8AC3E}">
        <p14:creationId xmlns:p14="http://schemas.microsoft.com/office/powerpoint/2010/main" val="58644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椭圆 32">
            <a:extLst>
              <a:ext uri="{FF2B5EF4-FFF2-40B4-BE49-F238E27FC236}">
                <a16:creationId xmlns:a16="http://schemas.microsoft.com/office/drawing/2014/main" id="{0AD5F98F-5E01-485A-99AD-B56847B9D22B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0AF2DE6-34F6-4045-917A-C1071AADADA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16D638-FB0A-47E1-B487-CA0A940D519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59F21BA-6CE2-44DB-B69D-2530D9BEDF0F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B6C92A-A9E3-40E4-B3A1-7D48795E14E5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893617-B109-45F4-A8FA-D466B2E29A63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安全与可控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EC7A7F-2687-41D6-8574-495935CBDFFB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45807C-6EF6-4D1D-9E0E-4AC90A05ED35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安全与可控：把风险拆成认证、执行、模型和审计四层处理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59673-76D1-4051-8ECB-DD73605BB032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平台面对的是未成年学习场景，因此可控性比单纯功能丰富更重要。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42324CF-297F-4732-93A2-3F4EC26F3D82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78183A-C963-4071-A569-F6595F54FA76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0099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7494B2-714C-4E2B-B85E-B7D7E1A36DCA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身份认证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A1626F-F172-4853-B5F6-E2E2E464166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JWT 登录态、HttpOnly Cookie、受保护 API 未认证返回 401。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359146E-DBA0-45DB-B326-013F3A43CC3A}"/>
              </a:ext>
            </a:extLst>
          </p:cNvPr>
          <p:cNvSpPr>
            <a:spLocks noGrp="1"/>
          </p:cNvSpPr>
          <p:nvPr/>
        </p:nvSpPr>
        <p:spPr>
          <a:xfrm>
            <a:off x="4657725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A5DFDF-3A3B-4081-8FFD-2DCF91ABD5F6}"/>
              </a:ext>
            </a:extLst>
          </p:cNvPr>
          <p:cNvSpPr>
            <a:spLocks noGrp="1"/>
          </p:cNvSpPr>
          <p:nvPr/>
        </p:nvSpPr>
        <p:spPr>
          <a:xfrm>
            <a:off x="4657725" y="1581150"/>
            <a:ext cx="30099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9BB164-A45C-410E-9FCE-7FB1F76B6A6F}"/>
              </a:ext>
            </a:extLst>
          </p:cNvPr>
          <p:cNvSpPr>
            <a:spLocks noGrp="1"/>
          </p:cNvSpPr>
          <p:nvPr/>
        </p:nvSpPr>
        <p:spPr>
          <a:xfrm>
            <a:off x="4886325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角色隔离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76DAC3-DA3C-40FE-968B-3998F7707AB8}"/>
              </a:ext>
            </a:extLst>
          </p:cNvPr>
          <p:cNvSpPr>
            <a:spLocks noGrp="1"/>
          </p:cNvSpPr>
          <p:nvPr/>
        </p:nvSpPr>
        <p:spPr>
          <a:xfrm>
            <a:off x="4886325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学生、教师、管理员访问边界分离，错误课程码返回 403。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5B1FA3E-4B39-4949-B8F3-FFDE01DEDCDC}"/>
              </a:ext>
            </a:extLst>
          </p:cNvPr>
          <p:cNvSpPr>
            <a:spLocks noGrp="1"/>
          </p:cNvSpPr>
          <p:nvPr/>
        </p:nvSpPr>
        <p:spPr>
          <a:xfrm>
            <a:off x="8553452" y="1581150"/>
            <a:ext cx="30099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7A29B5-6376-4B5C-AC5F-8F8EC28673CC}"/>
              </a:ext>
            </a:extLst>
          </p:cNvPr>
          <p:cNvSpPr>
            <a:spLocks noGrp="1"/>
          </p:cNvSpPr>
          <p:nvPr/>
        </p:nvSpPr>
        <p:spPr>
          <a:xfrm>
            <a:off x="8553452" y="1581150"/>
            <a:ext cx="30099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3C3BB1-8031-4908-AD4C-5A4023F7C6D7}"/>
              </a:ext>
            </a:extLst>
          </p:cNvPr>
          <p:cNvSpPr>
            <a:spLocks noGrp="1"/>
          </p:cNvSpPr>
          <p:nvPr/>
        </p:nvSpPr>
        <p:spPr>
          <a:xfrm>
            <a:off x="8782052" y="18288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执行约束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C3289C-B619-4790-9870-66CA45144A95}"/>
              </a:ext>
            </a:extLst>
          </p:cNvPr>
          <p:cNvSpPr>
            <a:spLocks noGrp="1"/>
          </p:cNvSpPr>
          <p:nvPr/>
        </p:nvSpPr>
        <p:spPr>
          <a:xfrm>
            <a:off x="8782052" y="2190750"/>
            <a:ext cx="2457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限制 os / sys / subprocess 等危险 import，设置 5s 超时和循环限制。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4DB590C-846A-431C-80DC-56B8515E7BE3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4850732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2353C2-30D1-47BB-AF41-CF2AC5096B96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4850732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85BECB-9FBE-4834-BC78-0C47A917DB85}"/>
              </a:ext>
            </a:extLst>
          </p:cNvPr>
          <p:cNvSpPr>
            <a:spLocks noGrp="1"/>
          </p:cNvSpPr>
          <p:nvPr/>
        </p:nvSpPr>
        <p:spPr>
          <a:xfrm>
            <a:off x="876299" y="3505200"/>
            <a:ext cx="1067161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模型约束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3BDE8B-6219-4F10-8BDF-15541E41F918}"/>
              </a:ext>
            </a:extLst>
          </p:cNvPr>
          <p:cNvSpPr>
            <a:spLocks noGrp="1"/>
          </p:cNvSpPr>
          <p:nvPr/>
        </p:nvSpPr>
        <p:spPr>
          <a:xfrm>
            <a:off x="876299" y="3867150"/>
            <a:ext cx="4288047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按场景构造提示词，要求分步解释、适龄表达和风险兜底。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A9FE5C4-C20E-46AB-8CA4-F74385C55A7C}"/>
              </a:ext>
            </a:extLst>
          </p:cNvPr>
          <p:cNvSpPr>
            <a:spLocks noGrp="1"/>
          </p:cNvSpPr>
          <p:nvPr/>
        </p:nvSpPr>
        <p:spPr>
          <a:xfrm>
            <a:off x="6781802" y="3257550"/>
            <a:ext cx="4762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507D51-0D83-4EB4-B3DD-3561C9F420AD}"/>
              </a:ext>
            </a:extLst>
          </p:cNvPr>
          <p:cNvSpPr>
            <a:spLocks noGrp="1"/>
          </p:cNvSpPr>
          <p:nvPr/>
        </p:nvSpPr>
        <p:spPr>
          <a:xfrm>
            <a:off x="6781802" y="3257550"/>
            <a:ext cx="47625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FC66D6-5398-4B44-8066-64DF7C9B4A36}"/>
              </a:ext>
            </a:extLst>
          </p:cNvPr>
          <p:cNvSpPr>
            <a:spLocks noGrp="1"/>
          </p:cNvSpPr>
          <p:nvPr/>
        </p:nvSpPr>
        <p:spPr>
          <a:xfrm>
            <a:off x="7010402" y="3505200"/>
            <a:ext cx="104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过程审计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B14AA9-98FF-42EB-92B7-9F856F23C91B}"/>
              </a:ext>
            </a:extLst>
          </p:cNvPr>
          <p:cNvSpPr>
            <a:spLocks noGrp="1"/>
          </p:cNvSpPr>
          <p:nvPr/>
        </p:nvSpPr>
        <p:spPr>
          <a:xfrm>
            <a:off x="7010402" y="3867150"/>
            <a:ext cx="42100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记录代码、输入输出、错误类型和关键交互，供教师查看。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E4D6945-C939-4EC7-8462-19B3ADD5FAF1}"/>
              </a:ext>
            </a:extLst>
          </p:cNvPr>
          <p:cNvSpPr>
            <a:spLocks noGrp="1"/>
          </p:cNvSpPr>
          <p:nvPr/>
        </p:nvSpPr>
        <p:spPr>
          <a:xfrm>
            <a:off x="647700" y="5181600"/>
            <a:ext cx="10877550" cy="533400"/>
          </a:xfrm>
          <a:prstGeom prst="roundRect">
            <a:avLst>
              <a:gd name="adj" fmla="val 14286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08B99D-407F-4091-A3DB-6DE3A1329C3E}"/>
              </a:ext>
            </a:extLst>
          </p:cNvPr>
          <p:cNvSpPr>
            <a:spLocks noGrp="1"/>
          </p:cNvSpPr>
          <p:nvPr/>
        </p:nvSpPr>
        <p:spPr>
          <a:xfrm>
            <a:off x="914400" y="5377114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 err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控制思路</a:t>
            </a:r>
            <a:endParaRPr sz="975" b="1" dirty="0">
              <a:solidFill>
                <a:srgbClr val="EA43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1E48338-9AFF-4CEC-9794-EC2022952B9B}"/>
              </a:ext>
            </a:extLst>
          </p:cNvPr>
          <p:cNvSpPr>
            <a:spLocks noGrp="1"/>
          </p:cNvSpPr>
          <p:nvPr/>
        </p:nvSpPr>
        <p:spPr>
          <a:xfrm>
            <a:off x="1847850" y="5377114"/>
            <a:ext cx="6096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 dirty="0" err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不把风险压在单点规则上，而是在身份、执行环境、模型输出和教师审计之间建立多层约束</a:t>
            </a:r>
            <a:r>
              <a:rPr sz="945" b="0" dirty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4437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椭圆 43">
            <a:extLst>
              <a:ext uri="{FF2B5EF4-FFF2-40B4-BE49-F238E27FC236}">
                <a16:creationId xmlns:a16="http://schemas.microsoft.com/office/drawing/2014/main" id="{50EE2766-9553-441F-BD85-EE1624D960CD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1526147-2E27-4B23-A804-0298050F9F1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DE7B01E-E75B-4BB6-B0A6-BB7646B4D2A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6B05EE7-FC78-496A-8D23-B9E0F54D9818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2AE8C-5BAE-4473-BF43-B887F0A7FC4F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C3957C-F656-474C-A512-7B585EF7F903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不足与展望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53FAC-3078-42AB-AF12-638BAE5CA32E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31A9C-A334-48F7-AE13-F5F98B1184ED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后续工作：从系统可用走向教学有效，需要工程、知识和评估三方面补强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0CE34A-BA62-461B-9D8B-1F3A2E0EAED1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当前版本证明了核心链路可运行，下一步重点是稳定性、个性化和真实课堂验证。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99F938A-F437-46FB-B5FA-460AA706CF97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514350" cy="51435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17C508-D092-4D85-850A-D9AFD3884203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76AAA82-8BFE-43DE-8E9D-11E84F72F4A0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C6C917-AD91-4B9B-86E7-44688BE13BC1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209550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958738-284A-4079-8DF0-1927A01254CE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F64F7C-F0BA-4F6A-A188-44E103DB6AA6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E2E 测试与 CI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1C5AB-4B94-4DD6-825F-0B8DC8E51945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补充 Playwright/接口测试，覆盖登录、编程、资源、消息等核心链路。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59E5E7-BC62-4B3A-A5A7-E5C68DBA5FA2}"/>
              </a:ext>
            </a:extLst>
          </p:cNvPr>
          <p:cNvSpPr>
            <a:spLocks noGrp="1"/>
          </p:cNvSpPr>
          <p:nvPr/>
        </p:nvSpPr>
        <p:spPr>
          <a:xfrm>
            <a:off x="2887584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6B9A095-F30A-4FAE-9233-9C0B5AAF59A6}"/>
              </a:ext>
            </a:extLst>
          </p:cNvPr>
          <p:cNvSpPr>
            <a:spLocks noGrp="1"/>
          </p:cNvSpPr>
          <p:nvPr/>
        </p:nvSpPr>
        <p:spPr>
          <a:xfrm>
            <a:off x="3535284" y="1695450"/>
            <a:ext cx="514350" cy="51435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95EDE4-17D4-4C56-9D04-FE2BFFE6D0B4}"/>
              </a:ext>
            </a:extLst>
          </p:cNvPr>
          <p:cNvSpPr>
            <a:spLocks noGrp="1"/>
          </p:cNvSpPr>
          <p:nvPr/>
        </p:nvSpPr>
        <p:spPr>
          <a:xfrm>
            <a:off x="3535284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73272EB-669C-4DB8-8699-318F3753AA65}"/>
              </a:ext>
            </a:extLst>
          </p:cNvPr>
          <p:cNvSpPr>
            <a:spLocks noGrp="1"/>
          </p:cNvSpPr>
          <p:nvPr/>
        </p:nvSpPr>
        <p:spPr>
          <a:xfrm>
            <a:off x="3382884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D3EC7-527E-4DA1-9137-8AAC4EB1835D}"/>
              </a:ext>
            </a:extLst>
          </p:cNvPr>
          <p:cNvSpPr>
            <a:spLocks noGrp="1"/>
          </p:cNvSpPr>
          <p:nvPr/>
        </p:nvSpPr>
        <p:spPr>
          <a:xfrm>
            <a:off x="3382884" y="2476500"/>
            <a:ext cx="209550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94145B-323E-43DB-9E21-5954EC43FB0E}"/>
              </a:ext>
            </a:extLst>
          </p:cNvPr>
          <p:cNvSpPr>
            <a:spLocks noGrp="1"/>
          </p:cNvSpPr>
          <p:nvPr/>
        </p:nvSpPr>
        <p:spPr>
          <a:xfrm>
            <a:off x="3611484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05AAEE-517A-4953-9C77-68EC6523C998}"/>
              </a:ext>
            </a:extLst>
          </p:cNvPr>
          <p:cNvSpPr>
            <a:spLocks noGrp="1"/>
          </p:cNvSpPr>
          <p:nvPr/>
        </p:nvSpPr>
        <p:spPr>
          <a:xfrm>
            <a:off x="3611484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RAG 私域知识库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25940C-3AC1-4579-9E92-80C339DCA6B2}"/>
              </a:ext>
            </a:extLst>
          </p:cNvPr>
          <p:cNvSpPr>
            <a:spLocks noGrp="1"/>
          </p:cNvSpPr>
          <p:nvPr/>
        </p:nvSpPr>
        <p:spPr>
          <a:xfrm>
            <a:off x="3611484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将课程资料、题解规范和错误案例纳入检索增强，提高回答贴课性。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726E6C-E980-40FF-9C44-509C48B7D017}"/>
              </a:ext>
            </a:extLst>
          </p:cNvPr>
          <p:cNvSpPr>
            <a:spLocks noGrp="1"/>
          </p:cNvSpPr>
          <p:nvPr/>
        </p:nvSpPr>
        <p:spPr>
          <a:xfrm>
            <a:off x="5698968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FE52A55-867A-4941-BBCD-94082858BB0A}"/>
              </a:ext>
            </a:extLst>
          </p:cNvPr>
          <p:cNvSpPr>
            <a:spLocks noGrp="1"/>
          </p:cNvSpPr>
          <p:nvPr/>
        </p:nvSpPr>
        <p:spPr>
          <a:xfrm>
            <a:off x="6346668" y="1695450"/>
            <a:ext cx="514350" cy="51435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4A2472-230C-4ED5-98C1-F4A5B51AFD35}"/>
              </a:ext>
            </a:extLst>
          </p:cNvPr>
          <p:cNvSpPr>
            <a:spLocks noGrp="1"/>
          </p:cNvSpPr>
          <p:nvPr/>
        </p:nvSpPr>
        <p:spPr>
          <a:xfrm>
            <a:off x="6346668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990ECC8-DBDA-4BFF-B368-16C4D7D372E6}"/>
              </a:ext>
            </a:extLst>
          </p:cNvPr>
          <p:cNvSpPr>
            <a:spLocks noGrp="1"/>
          </p:cNvSpPr>
          <p:nvPr/>
        </p:nvSpPr>
        <p:spPr>
          <a:xfrm>
            <a:off x="6194268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9B37AC-1F0D-492C-ABA6-D60BB61331E7}"/>
              </a:ext>
            </a:extLst>
          </p:cNvPr>
          <p:cNvSpPr>
            <a:spLocks noGrp="1"/>
          </p:cNvSpPr>
          <p:nvPr/>
        </p:nvSpPr>
        <p:spPr>
          <a:xfrm>
            <a:off x="6194268" y="2476500"/>
            <a:ext cx="209550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2BD6AC-BD50-44F5-8004-562D650E0B49}"/>
              </a:ext>
            </a:extLst>
          </p:cNvPr>
          <p:cNvSpPr>
            <a:spLocks noGrp="1"/>
          </p:cNvSpPr>
          <p:nvPr/>
        </p:nvSpPr>
        <p:spPr>
          <a:xfrm>
            <a:off x="6422868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9D0815-3A67-420C-9CF8-27E9149AB6A6}"/>
              </a:ext>
            </a:extLst>
          </p:cNvPr>
          <p:cNvSpPr>
            <a:spLocks noGrp="1"/>
          </p:cNvSpPr>
          <p:nvPr/>
        </p:nvSpPr>
        <p:spPr>
          <a:xfrm>
            <a:off x="6422868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学习画像与推荐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FC802C-64C1-4085-A102-F16DC5A3CE63}"/>
              </a:ext>
            </a:extLst>
          </p:cNvPr>
          <p:cNvSpPr>
            <a:spLocks noGrp="1"/>
          </p:cNvSpPr>
          <p:nvPr/>
        </p:nvSpPr>
        <p:spPr>
          <a:xfrm>
            <a:off x="6422868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基于 records 分析错误类型、完成速度和知识点掌握情况。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BE883E-6C78-40F8-A53F-8E9BF99F1170}"/>
              </a:ext>
            </a:extLst>
          </p:cNvPr>
          <p:cNvSpPr>
            <a:spLocks noGrp="1"/>
          </p:cNvSpPr>
          <p:nvPr/>
        </p:nvSpPr>
        <p:spPr>
          <a:xfrm>
            <a:off x="8510352" y="1847850"/>
            <a:ext cx="3048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F9ABC0D-DDE8-4A80-B0E5-C1268A4DF8EB}"/>
              </a:ext>
            </a:extLst>
          </p:cNvPr>
          <p:cNvSpPr>
            <a:spLocks noGrp="1"/>
          </p:cNvSpPr>
          <p:nvPr/>
        </p:nvSpPr>
        <p:spPr>
          <a:xfrm>
            <a:off x="9158052" y="1695450"/>
            <a:ext cx="514350" cy="51435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C4E212-3CDE-4FA3-9EF0-EE3B4804CC08}"/>
              </a:ext>
            </a:extLst>
          </p:cNvPr>
          <p:cNvSpPr>
            <a:spLocks noGrp="1"/>
          </p:cNvSpPr>
          <p:nvPr/>
        </p:nvSpPr>
        <p:spPr>
          <a:xfrm>
            <a:off x="9158052" y="1847850"/>
            <a:ext cx="5143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0156432-A7E6-4DB8-A5E7-657402AF9B2D}"/>
              </a:ext>
            </a:extLst>
          </p:cNvPr>
          <p:cNvSpPr>
            <a:spLocks noGrp="1"/>
          </p:cNvSpPr>
          <p:nvPr/>
        </p:nvSpPr>
        <p:spPr>
          <a:xfrm>
            <a:off x="9005652" y="247650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4BC07F-7108-468D-8B78-6E3A56C8D59E}"/>
              </a:ext>
            </a:extLst>
          </p:cNvPr>
          <p:cNvSpPr>
            <a:spLocks noGrp="1"/>
          </p:cNvSpPr>
          <p:nvPr/>
        </p:nvSpPr>
        <p:spPr>
          <a:xfrm>
            <a:off x="9005652" y="2476500"/>
            <a:ext cx="209550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5B8015-D7DA-4190-AD92-B7CBCA55CF38}"/>
              </a:ext>
            </a:extLst>
          </p:cNvPr>
          <p:cNvSpPr>
            <a:spLocks noGrp="1"/>
          </p:cNvSpPr>
          <p:nvPr/>
        </p:nvSpPr>
        <p:spPr>
          <a:xfrm>
            <a:off x="9234252" y="2724150"/>
            <a:ext cx="666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728BD8-7D77-4FF8-9259-6CC9194D7540}"/>
              </a:ext>
            </a:extLst>
          </p:cNvPr>
          <p:cNvSpPr>
            <a:spLocks noGrp="1"/>
          </p:cNvSpPr>
          <p:nvPr/>
        </p:nvSpPr>
        <p:spPr>
          <a:xfrm>
            <a:off x="9234252" y="3028950"/>
            <a:ext cx="1428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课堂实验评价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9A75069-CE07-4B5F-8066-834A65552F82}"/>
              </a:ext>
            </a:extLst>
          </p:cNvPr>
          <p:cNvSpPr>
            <a:spLocks noGrp="1"/>
          </p:cNvSpPr>
          <p:nvPr/>
        </p:nvSpPr>
        <p:spPr>
          <a:xfrm>
            <a:off x="9234252" y="3429000"/>
            <a:ext cx="15811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用完成率、错误修正次数、教师评分和问卷评价验证教学效果。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E548490E-8C0A-480D-A25B-5E36A992138D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10529652" cy="570497"/>
          </a:xfrm>
          <a:prstGeom prst="roundRect">
            <a:avLst>
              <a:gd name="adj" fmla="val 12121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D78F36-20E1-45F0-8662-A1F757EF9883}"/>
              </a:ext>
            </a:extLst>
          </p:cNvPr>
          <p:cNvSpPr>
            <a:spLocks noGrp="1"/>
          </p:cNvSpPr>
          <p:nvPr/>
        </p:nvSpPr>
        <p:spPr>
          <a:xfrm>
            <a:off x="801102" y="5281864"/>
            <a:ext cx="857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边界说明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0A532F0-E07B-4095-A2E6-CBEAEEE9C626}"/>
              </a:ext>
            </a:extLst>
          </p:cNvPr>
          <p:cNvSpPr>
            <a:spLocks noGrp="1"/>
          </p:cNvSpPr>
          <p:nvPr/>
        </p:nvSpPr>
        <p:spPr>
          <a:xfrm>
            <a:off x="1829802" y="5281864"/>
            <a:ext cx="67246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本毕业设计阶段的重点是设计与实现，并完成系统功能验证；教学效果评价需要后续真实课堂数据支撑。</a:t>
            </a:r>
          </a:p>
        </p:txBody>
      </p:sp>
    </p:spTree>
    <p:extLst>
      <p:ext uri="{BB962C8B-B14F-4D97-AF65-F5344CB8AC3E}">
        <p14:creationId xmlns:p14="http://schemas.microsoft.com/office/powerpoint/2010/main" val="159150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1F4BF457-17F0-40AF-805D-AA3E904C60A6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CA8C874-DF29-410C-97D8-1CDBEB7047E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6200" cy="76200"/>
          </a:xfrm>
          <a:prstGeom prst="ellipse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1C5BE75-E351-4112-BD0D-C2A695DC7E2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6200" cy="76200"/>
          </a:xfrm>
          <a:prstGeom prst="ellipse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FCEF7F0-9864-4057-8264-7648ECF7E99E}"/>
              </a:ext>
            </a:extLst>
          </p:cNvPr>
          <p:cNvSpPr>
            <a:spLocks noGrp="1"/>
          </p:cNvSpPr>
          <p:nvPr/>
        </p:nvSpPr>
        <p:spPr>
          <a:xfrm>
            <a:off x="723900" y="266700"/>
            <a:ext cx="76200" cy="76200"/>
          </a:xfrm>
          <a:prstGeom prst="ellipse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C715F-27CD-4689-80D3-6D143DE3EC69}"/>
              </a:ext>
            </a:extLst>
          </p:cNvPr>
          <p:cNvSpPr>
            <a:spLocks noGrp="1"/>
          </p:cNvSpPr>
          <p:nvPr/>
        </p:nvSpPr>
        <p:spPr>
          <a:xfrm>
            <a:off x="876300" y="219075"/>
            <a:ext cx="1428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8FF4BA-72BB-4314-AEB0-B307E02D361F}"/>
              </a:ext>
            </a:extLst>
          </p:cNvPr>
          <p:cNvSpPr>
            <a:spLocks noGrp="1"/>
          </p:cNvSpPr>
          <p:nvPr/>
        </p:nvSpPr>
        <p:spPr>
          <a:xfrm>
            <a:off x="9810750" y="209550"/>
            <a:ext cx="16192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6580C-D2B2-4A04-9680-3F820CBD1CE9}"/>
              </a:ext>
            </a:extLst>
          </p:cNvPr>
          <p:cNvSpPr>
            <a:spLocks noGrp="1"/>
          </p:cNvSpPr>
          <p:nvPr/>
        </p:nvSpPr>
        <p:spPr>
          <a:xfrm>
            <a:off x="11525250" y="209550"/>
            <a:ext cx="3429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22DDD6-6E62-4B2B-8840-EFBE294FF19A}"/>
              </a:ext>
            </a:extLst>
          </p:cNvPr>
          <p:cNvSpPr>
            <a:spLocks noGrp="1"/>
          </p:cNvSpPr>
          <p:nvPr/>
        </p:nvSpPr>
        <p:spPr>
          <a:xfrm>
            <a:off x="514350" y="609600"/>
            <a:ext cx="990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总结：平台已形成“编程实践 + AI 支架 + 教师闭环”的完整原型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68AAA2-7225-4630-82D8-9F08FD6DB27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90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价值边界清楚：系统流程已经打通，教学效果仍需课堂数据继续验证。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9B0C714-6DC4-45EF-A492-5B0C098EFF93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E8F0F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A25577-3B07-4FEF-92D9-D4FE471A7397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3243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FCB52-91AF-418A-911E-F775032FC4E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4285F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285F4"/>
                </a:solidFill>
                <a:latin typeface="PingFang SC"/>
                <a:ea typeface="PingFang SC"/>
                <a:cs typeface="PingFang SC"/>
              </a:rPr>
              <a:t>完成平台实现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64FB47-86FA-4812-B9C1-48E349D82BEA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学生端、教师端、课程、任务、资源、消息和学习记录等核心模块已实现。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F561192-05BA-4B2F-A53D-59C5E52610D4}"/>
              </a:ext>
            </a:extLst>
          </p:cNvPr>
          <p:cNvSpPr>
            <a:spLocks noGrp="1"/>
          </p:cNvSpPr>
          <p:nvPr/>
        </p:nvSpPr>
        <p:spPr>
          <a:xfrm>
            <a:off x="7107655" y="16192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E6F4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F826E-D600-4875-8250-18DC194D4EF1}"/>
              </a:ext>
            </a:extLst>
          </p:cNvPr>
          <p:cNvSpPr>
            <a:spLocks noGrp="1"/>
          </p:cNvSpPr>
          <p:nvPr/>
        </p:nvSpPr>
        <p:spPr>
          <a:xfrm>
            <a:off x="7107655" y="1619250"/>
            <a:ext cx="4324350" cy="66675"/>
          </a:xfrm>
          <a:prstGeom prst="rect">
            <a:avLst/>
          </a:prstGeom>
          <a:solidFill>
            <a:srgbClr val="34A853"/>
          </a:solidFill>
          <a:ln w="0">
            <a:solidFill>
              <a:srgbClr val="34A85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B8DA6B-9030-434D-9D7D-F4EF0D0C873F}"/>
              </a:ext>
            </a:extLst>
          </p:cNvPr>
          <p:cNvSpPr>
            <a:spLocks noGrp="1"/>
          </p:cNvSpPr>
          <p:nvPr/>
        </p:nvSpPr>
        <p:spPr>
          <a:xfrm>
            <a:off x="7355305" y="19050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34A85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A853"/>
                </a:solidFill>
                <a:latin typeface="PingFang SC"/>
                <a:ea typeface="PingFang SC"/>
                <a:cs typeface="PingFang SC"/>
              </a:rPr>
              <a:t>嵌入 AI 辅学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29F58B-BDB9-41B6-8F85-CF5DEB084AC4}"/>
              </a:ext>
            </a:extLst>
          </p:cNvPr>
          <p:cNvSpPr>
            <a:spLocks noGrp="1"/>
          </p:cNvSpPr>
          <p:nvPr/>
        </p:nvSpPr>
        <p:spPr>
          <a:xfrm>
            <a:off x="7355305" y="22669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覆盖自由问答、代码解释、报错解析、问题分解、抽象建模和算法设计。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CB4F88F-687B-461E-9CC4-028A6408E802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FEF7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9B5F80-57B3-468F-A9F7-EE95E0841BC1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4324350" cy="66675"/>
          </a:xfrm>
          <a:prstGeom prst="rect">
            <a:avLst/>
          </a:prstGeom>
          <a:solidFill>
            <a:srgbClr val="FBBC04"/>
          </a:solidFill>
          <a:ln w="0">
            <a:solidFill>
              <a:srgbClr val="FBBC0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62D8C3-18EB-4E3C-9EB0-D28DE9F4C6BF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BBC0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BBC04"/>
                </a:solidFill>
                <a:latin typeface="PingFang SC"/>
                <a:ea typeface="PingFang SC"/>
                <a:cs typeface="PingFang SC"/>
              </a:rPr>
              <a:t>打通实践链路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51558A-AEC5-4C39-9A9E-8FB289234B74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浏览器端 Python 执行，运行结果和错误信息进入学习记录。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332D0C0-40E0-4831-B31C-01A30133279C}"/>
              </a:ext>
            </a:extLst>
          </p:cNvPr>
          <p:cNvSpPr>
            <a:spLocks noGrp="1"/>
          </p:cNvSpPr>
          <p:nvPr/>
        </p:nvSpPr>
        <p:spPr>
          <a:xfrm>
            <a:off x="7107655" y="3257550"/>
            <a:ext cx="4324350" cy="1181100"/>
          </a:xfrm>
          <a:prstGeom prst="roundRect">
            <a:avLst>
              <a:gd name="adj" fmla="val 6452"/>
            </a:avLst>
          </a:prstGeom>
          <a:solidFill>
            <a:srgbClr val="FCE8E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D0AE49-676C-4A92-9379-95DEE9B1B569}"/>
              </a:ext>
            </a:extLst>
          </p:cNvPr>
          <p:cNvSpPr>
            <a:spLocks noGrp="1"/>
          </p:cNvSpPr>
          <p:nvPr/>
        </p:nvSpPr>
        <p:spPr>
          <a:xfrm>
            <a:off x="7107655" y="3257550"/>
            <a:ext cx="4324350" cy="66675"/>
          </a:xfrm>
          <a:prstGeom prst="rect">
            <a:avLst/>
          </a:prstGeom>
          <a:solidFill>
            <a:srgbClr val="EA4335"/>
          </a:solidFill>
          <a:ln w="0">
            <a:solidFill>
              <a:srgbClr val="EA43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58C86A-1B23-48C5-BC7A-2EF783203EF2}"/>
              </a:ext>
            </a:extLst>
          </p:cNvPr>
          <p:cNvSpPr>
            <a:spLocks noGrp="1"/>
          </p:cNvSpPr>
          <p:nvPr/>
        </p:nvSpPr>
        <p:spPr>
          <a:xfrm>
            <a:off x="7355305" y="3543300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A43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A4335"/>
                </a:solidFill>
                <a:latin typeface="PingFang SC"/>
                <a:ea typeface="PingFang SC"/>
                <a:cs typeface="PingFang SC"/>
              </a:rPr>
              <a:t>验证核心流程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1876A8-906E-4E34-A3D8-09FCCE7B3DF8}"/>
              </a:ext>
            </a:extLst>
          </p:cNvPr>
          <p:cNvSpPr>
            <a:spLocks noGrp="1"/>
          </p:cNvSpPr>
          <p:nvPr/>
        </p:nvSpPr>
        <p:spPr>
          <a:xfrm>
            <a:off x="7355305" y="3905250"/>
            <a:ext cx="3524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功能测试覆盖认证、权限、代码执行、安全限制和数据接口。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DE7E18F-53A9-44B6-8F22-242E942D9E0F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107251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03194B-85FA-41B7-80BE-E80DA9F1B9FD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10725150" cy="66675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44A1A5-A1A1-4236-9EE7-376C5198F8E7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49530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答辩结束，感谢各位老师批评指正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4FFEE8-6165-4060-A64C-3ECDF06D061E}"/>
              </a:ext>
            </a:extLst>
          </p:cNvPr>
          <p:cNvSpPr>
            <a:spLocks noGrp="1"/>
          </p:cNvSpPr>
          <p:nvPr/>
        </p:nvSpPr>
        <p:spPr>
          <a:xfrm>
            <a:off x="8879305" y="5472364"/>
            <a:ext cx="23812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林柏伟 · 计算机科学与技术 · 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97472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4498</TotalTime>
  <Words>1117</Words>
  <Application>Microsoft Macintosh PowerPoint</Application>
  <DocSecurity>0</DocSecurity>
  <PresentationFormat>宽屏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Link Boring</cp:lastModifiedBy>
  <cp:revision>73</cp:revision>
  <dcterms:created xsi:type="dcterms:W3CDTF">2026-05-10T05:13:15Z</dcterms:created>
  <dcterms:modified xsi:type="dcterms:W3CDTF">2026-05-14T15:21:13Z</dcterms:modified>
</cp:coreProperties>
</file>